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60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916"/>
    <a:srgbClr val="999999"/>
    <a:srgbClr val="2D2D2D"/>
    <a:srgbClr val="EEEEEE"/>
    <a:srgbClr val="D9D9D9"/>
    <a:srgbClr val="B8B8B8"/>
    <a:srgbClr val="009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041AB8-F067-4FE4-8A12-6A2AEB553F34}" v="1" dt="2025-12-03T10:37:47.036"/>
    <p1510:client id="{54596C45-786A-46EA-8A4F-574679265F38}" v="1" dt="2025-12-03T09:12:20.679"/>
    <p1510:client id="{CE6FDDF0-D02B-1393-1E60-441D7E9B06AE}" v="103" dt="2025-12-02T10:38:35.4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91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52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7" d="100"/>
          <a:sy n="77" d="100"/>
        </p:scale>
        <p:origin x="3096" y="51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41B46A-6523-4395-A03B-D122CE5F887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539CED-CB95-4903-AE6F-39D1315BC4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658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539CED-CB95-4903-AE6F-39D1315BC47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2018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EC6C1-FCFA-2B04-740B-4C1A89CA9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CD7D62-62D7-2ACE-C811-5707C7100A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E66B47-E9DE-C1E1-A1A2-F1F77457FE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8A7A29-8574-47AD-B7D0-2FDF2DF3F7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539CED-CB95-4903-AE6F-39D1315BC47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2124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52054-085E-30F6-F867-62511F5AF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3DA863-A048-FB58-9B1E-EB1F33423A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A2B288-1C2B-F615-4705-F12CD16B53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4722CA-86E9-1F69-24E2-C338947DBF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539CED-CB95-4903-AE6F-39D1315BC47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3905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0B8AD-AB87-CD8C-E370-4FAF79F7B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3C930A-602D-DE51-9207-F26482E9AF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717CF2-C434-6F81-9A61-A5A91669C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54B29-3B46-4D39-BA64-1E19D4BA7B9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83F087-CAB3-46A7-99DF-A7543162D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E7E29F-C170-2BC2-932E-4208D0C47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E899E-F87C-4E36-82E4-A7064873C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126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A50B4-7167-6CCB-5F49-9B4C7D5DF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E60AF-0569-2463-61D6-368A5ED276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5615DF-BDD4-4BEE-5466-0418DC316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54B29-3B46-4D39-BA64-1E19D4BA7B9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C430FE-C029-89A2-BE9E-C2920D332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CC13FD-316B-ED54-0E2E-F59140E4D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E899E-F87C-4E36-82E4-A7064873C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917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F4455-1C58-36DA-8256-738D3D0F5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5CC5C2-9989-8D5C-D5D5-03B5FD9EE6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2DA079-999F-C7DD-59B4-AC7454DAA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54B29-3B46-4D39-BA64-1E19D4BA7B9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D55BB-CC35-E787-6115-8043DD362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FEDC7-BD1F-939D-B2D9-4078AE6EC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E899E-F87C-4E36-82E4-A7064873C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041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E2209-17EE-0B51-F5F2-2627F3625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A54EC-9D11-B598-8541-3F93A62951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640672-395B-A9E6-8161-BC23C7E05F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9D557B-EA90-9647-0C5B-280EF2C21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54B29-3B46-4D39-BA64-1E19D4BA7B9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916921-F3AB-E2C4-14FA-3939C0BA6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04B561-E69F-4FA6-631A-D62363D5E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E899E-F87C-4E36-82E4-A7064873C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309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44A07-2F1E-C31A-5338-1756ABCA4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04EC78-AF20-91EF-5004-744971D195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F19DE6-FF9F-6476-E8AF-054C1F54F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C0D1EE-97AB-EFE3-4F5C-348F8DDA9F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4ADDE5-B07B-C67D-FAB8-34679F16EB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6A62F9-86B3-C882-CAAD-1DD11A779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54B29-3B46-4D39-BA64-1E19D4BA7B9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0946E1-E5EA-ABA7-63B8-8AEDAE3DA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BDAA8C-C8AB-A0B8-679B-C68DB6C51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E899E-F87C-4E36-82E4-A7064873C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32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33296-B9FA-815A-26AD-0630C6EBC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F188AA-EC57-EF16-C79A-53CE7ECFE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54B29-3B46-4D39-BA64-1E19D4BA7B9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AC782D-00B6-5BF6-002B-8BB54CB55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94BDFA-7F95-8FDB-BAA9-8BC3AF789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E899E-F87C-4E36-82E4-A7064873C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797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232766-B2DC-DF40-E6F8-D81F7887E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54B29-3B46-4D39-BA64-1E19D4BA7B9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19504A-0895-98EE-7783-36833C442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2F0249-191A-271C-5BCE-1AC1C0B42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E899E-F87C-4E36-82E4-A7064873C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62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B4B4B-56CE-D3DA-5BC0-33E585445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95443-CFF4-673D-A625-97C0310260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1F1A86-7E52-20EC-9DFE-BC1329E335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32AF59-D739-C816-6051-892E7B1C6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54B29-3B46-4D39-BA64-1E19D4BA7B9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48E72E-50A3-EE71-E811-9A05E2C80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33EDD8-477F-6BF2-9486-2016889C5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E899E-F87C-4E36-82E4-A7064873C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694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5C388-D076-4C9F-71DB-4329BD5D7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6533D1-B6C2-21F8-EEE2-AB568A9215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A9FF1F-4AFB-BCCB-659E-4EB8FEA04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3AEFBB-F072-29D3-0355-498D3A8DE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54B29-3B46-4D39-BA64-1E19D4BA7B9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F09F62-8F46-4E0E-CF6C-CA34E2F6A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047A67-2F7A-D083-F2CA-F5BD9C75E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E899E-F87C-4E36-82E4-A7064873C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181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D21D9-9CA3-AE91-4EC8-193B3B1B5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ACCEA2-EA34-DAA3-4B11-13B2C5741F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7C37CB-64C8-3DC7-97FE-0095590EC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54B29-3B46-4D39-BA64-1E19D4BA7B9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2F07C-DAB1-F303-6EEB-767F10735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F62A1-0686-30D7-F595-316CF78CC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E899E-F87C-4E36-82E4-A7064873C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63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BD13C8-8CFF-DFD3-1609-3A0E89D6CF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82F39A-AD68-C4E2-97EA-E12990D64A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E0CCF1-22A2-FECD-094E-2E3571A92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54B29-3B46-4D39-BA64-1E19D4BA7B9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CA2F78-ED98-9449-B676-9FDEEE31E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8AB64-C781-2B37-0A58-B1CEDBA26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0E899E-F87C-4E36-82E4-A7064873C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481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11C14A-E12E-5AC6-9721-097C2CBF9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E1410F-2F1C-5FBB-8D5F-C6EEEF172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8E10C2-64C2-4F56-19C7-AF73C40061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E54B29-3B46-4D39-BA64-1E19D4BA7B9C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9F6D-295B-0ABC-4334-58A5ED0AC9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5FA64-6F01-1485-6256-80AB91240A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0E899E-F87C-4E36-82E4-A7064873C0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660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C29B247-DC53-444A-3EED-78632AC13D7C}"/>
              </a:ext>
            </a:extLst>
          </p:cNvPr>
          <p:cNvSpPr txBox="1"/>
          <p:nvPr/>
        </p:nvSpPr>
        <p:spPr>
          <a:xfrm>
            <a:off x="284922" y="224332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cap="all" dirty="0">
                <a:cs typeface="Segoe UI" panose="020B0502040204020203" pitchFamily="34" charset="0"/>
              </a:rPr>
              <a:t>Status Report</a:t>
            </a:r>
            <a:endParaRPr lang="en-US" sz="1200" dirty="0"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C50939-9A2A-AB48-FF67-509540D74291}"/>
              </a:ext>
            </a:extLst>
          </p:cNvPr>
          <p:cNvSpPr txBox="1"/>
          <p:nvPr/>
        </p:nvSpPr>
        <p:spPr>
          <a:xfrm>
            <a:off x="11350487" y="224332"/>
            <a:ext cx="4306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b="1" cap="all" dirty="0">
                <a:cs typeface="Segoe UI" panose="020B0502040204020203" pitchFamily="34" charset="0"/>
              </a:rPr>
              <a:t>01</a:t>
            </a:r>
            <a:endParaRPr lang="en-US" sz="1200" dirty="0"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8B2157-3DB3-CCF8-6C2C-9E9CF6437912}"/>
              </a:ext>
            </a:extLst>
          </p:cNvPr>
          <p:cNvSpPr txBox="1"/>
          <p:nvPr/>
        </p:nvSpPr>
        <p:spPr>
          <a:xfrm>
            <a:off x="7330109" y="224332"/>
            <a:ext cx="33378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b="1" cap="all" dirty="0">
                <a:cs typeface="Segoe UI" panose="020B0502040204020203" pitchFamily="34" charset="0"/>
              </a:rPr>
              <a:t>November 2025</a:t>
            </a:r>
            <a:endParaRPr lang="en-US" sz="1200" dirty="0">
              <a:cs typeface="Segoe UI" panose="020B0502040204020203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1D85CF6-A0BC-BBC4-624A-3680FA470089}"/>
              </a:ext>
            </a:extLst>
          </p:cNvPr>
          <p:cNvCxnSpPr>
            <a:cxnSpLocks/>
          </p:cNvCxnSpPr>
          <p:nvPr/>
        </p:nvCxnSpPr>
        <p:spPr>
          <a:xfrm>
            <a:off x="366713" y="591547"/>
            <a:ext cx="11299031" cy="0"/>
          </a:xfrm>
          <a:prstGeom prst="line">
            <a:avLst/>
          </a:prstGeom>
          <a:ln w="12700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BEAEC1B-27C6-75C4-670D-3745B2D68346}"/>
              </a:ext>
            </a:extLst>
          </p:cNvPr>
          <p:cNvSpPr txBox="1"/>
          <p:nvPr/>
        </p:nvSpPr>
        <p:spPr>
          <a:xfrm>
            <a:off x="261104" y="865879"/>
            <a:ext cx="64009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effectLst/>
                <a:latin typeface="+mj-lt"/>
                <a:cs typeface="Segoe UI" panose="020B0502040204020203" pitchFamily="34" charset="0"/>
              </a:rPr>
              <a:t>PROJECT STATUS OVERVIEW</a:t>
            </a:r>
            <a:endParaRPr lang="en-US" sz="3600" b="1" dirty="0"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1B42B9-A22F-A6EA-041C-B90B5D02C228}"/>
              </a:ext>
            </a:extLst>
          </p:cNvPr>
          <p:cNvSpPr txBox="1"/>
          <p:nvPr/>
        </p:nvSpPr>
        <p:spPr>
          <a:xfrm>
            <a:off x="261104" y="1461716"/>
            <a:ext cx="3628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cs typeface="Segoe UI Semilight" panose="020B0402040204020203" pitchFamily="34" charset="0"/>
              </a:rPr>
              <a:t>Northwind Test Analytics Platform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A91F1F5-8E1D-E3DD-DFA6-582BBE51ED81}"/>
              </a:ext>
            </a:extLst>
          </p:cNvPr>
          <p:cNvSpPr txBox="1"/>
          <p:nvPr/>
        </p:nvSpPr>
        <p:spPr>
          <a:xfrm>
            <a:off x="7593496" y="6355711"/>
            <a:ext cx="41876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effectLst/>
                <a:latin typeface="Segoe UI Semilight" panose="020B0402040204020203" pitchFamily="34" charset="0"/>
                <a:cs typeface="Segoe UI Semilight" panose="020B0402040204020203" pitchFamily="34" charset="0"/>
              </a:rPr>
              <a:t>LAST UPDATED: NOVEMBER RELEASE CYCLE</a:t>
            </a:r>
            <a:endParaRPr lang="en-US" sz="1400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1BEC72E-8A6E-927F-30A4-C7A9627FE8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0965782"/>
              </p:ext>
            </p:extLst>
          </p:nvPr>
        </p:nvGraphicFramePr>
        <p:xfrm>
          <a:off x="1078396" y="2024103"/>
          <a:ext cx="9725440" cy="37333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6660">
                  <a:extLst>
                    <a:ext uri="{9D8B030D-6E8A-4147-A177-3AD203B41FA5}">
                      <a16:colId xmlns:a16="http://schemas.microsoft.com/office/drawing/2014/main" val="3888202803"/>
                    </a:ext>
                  </a:extLst>
                </a:gridCol>
                <a:gridCol w="3491344">
                  <a:extLst>
                    <a:ext uri="{9D8B030D-6E8A-4147-A177-3AD203B41FA5}">
                      <a16:colId xmlns:a16="http://schemas.microsoft.com/office/drawing/2014/main" val="3029738029"/>
                    </a:ext>
                  </a:extLst>
                </a:gridCol>
                <a:gridCol w="3813465">
                  <a:extLst>
                    <a:ext uri="{9D8B030D-6E8A-4147-A177-3AD203B41FA5}">
                      <a16:colId xmlns:a16="http://schemas.microsoft.com/office/drawing/2014/main" val="1296542700"/>
                    </a:ext>
                  </a:extLst>
                </a:gridCol>
                <a:gridCol w="1503971">
                  <a:extLst>
                    <a:ext uri="{9D8B030D-6E8A-4147-A177-3AD203B41FA5}">
                      <a16:colId xmlns:a16="http://schemas.microsoft.com/office/drawing/2014/main" val="489025455"/>
                    </a:ext>
                  </a:extLst>
                </a:gridCol>
              </a:tblGrid>
              <a:tr h="722554">
                <a:tc gridSpan="2">
                  <a:txBody>
                    <a:bodyPr/>
                    <a:lstStyle/>
                    <a:p>
                      <a:pPr marL="9144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 Semibold"/>
                          <a:cs typeface="Segoe UI Semibold"/>
                        </a:rPr>
                        <a:t>STAGE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144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STATUS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OWNER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89067294"/>
                  </a:ext>
                </a:extLst>
              </a:tr>
              <a:tr h="10760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 dpi="0" rotWithShape="1">
                      <a:blip r:embed="rId3">
                        <a:extLst>
                          <a:ext uri="{96DAC541-7B7A-43D3-8B79-37D633B846F1}">
                            <asvg:svgBlip xmlns:asvg="http://schemas.microsoft.com/office/drawing/2016/SVG/main" r:embed="rId4"/>
                          </a:ext>
                        </a:extLst>
                      </a:blip>
                      <a:srcRect/>
                      <a:stretch>
                        <a:fillRect l="17000" t="23000" r="17000" b="23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Requirements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</a:rPr>
                        <a:t>Initial Definition &amp; Scope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916"/>
                          </a:solidFill>
                          <a:effectLst/>
                          <a:uLnTx/>
                          <a:uFillTx/>
                        </a:rPr>
                        <a:t>Complete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916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Product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88176066"/>
                  </a:ext>
                </a:extLst>
              </a:tr>
              <a:tr h="100791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5">
                        <a:extLst>
                          <a:ext uri="{96DAC541-7B7A-43D3-8B79-37D633B846F1}">
                            <asvg:svgBlip xmlns:asvg="http://schemas.microsoft.com/office/drawing/2016/SVG/main" r:embed="rId6"/>
                          </a:ext>
                        </a:extLst>
                      </a:blip>
                      <a:stretch>
                        <a:fillRect l="10000" t="10000" r="10000" b="1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Development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Core Implementation</a:t>
                      </a:r>
                    </a:p>
                  </a:txBody>
                  <a:tcPr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95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In Progress</a:t>
                      </a:r>
                    </a:p>
                  </a:txBody>
                  <a:tcPr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Engineering</a:t>
                      </a:r>
                    </a:p>
                  </a:txBody>
                  <a:tcPr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93150934"/>
                  </a:ext>
                </a:extLst>
              </a:tr>
              <a:tr h="92690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7">
                        <a:extLst>
                          <a:ext uri="{96DAC541-7B7A-43D3-8B79-37D633B846F1}">
                            <asvg:svgBlip xmlns:asvg="http://schemas.microsoft.com/office/drawing/2016/SVG/main" r:embed="rId8"/>
                          </a:ext>
                        </a:extLst>
                      </a:blip>
                      <a:stretch>
                        <a:fillRect l="10000" t="10000" r="10000" b="1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Testing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Quality Assurance</a:t>
                      </a:r>
                    </a:p>
                  </a:txBody>
                  <a:tcPr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Planned</a:t>
                      </a:r>
                    </a:p>
                  </a:txBody>
                  <a:tcPr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QA</a:t>
                      </a:r>
                    </a:p>
                  </a:txBody>
                  <a:tcPr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46622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2647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0E423-6726-3545-E64C-EBE37E2F7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137D50A-100B-79BE-9B7C-2AB9B354937E}"/>
              </a:ext>
            </a:extLst>
          </p:cNvPr>
          <p:cNvSpPr txBox="1"/>
          <p:nvPr/>
        </p:nvSpPr>
        <p:spPr>
          <a:xfrm>
            <a:off x="284922" y="224332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cap="all" dirty="0">
                <a:cs typeface="Segoe UI" panose="020B0502040204020203" pitchFamily="34" charset="0"/>
              </a:rPr>
              <a:t>Status Report</a:t>
            </a:r>
            <a:endParaRPr lang="en-US" sz="1200" dirty="0"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0F1127-77CC-843F-F5AD-6735D7F8B542}"/>
              </a:ext>
            </a:extLst>
          </p:cNvPr>
          <p:cNvSpPr txBox="1"/>
          <p:nvPr/>
        </p:nvSpPr>
        <p:spPr>
          <a:xfrm>
            <a:off x="11350487" y="224332"/>
            <a:ext cx="4306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b="1" cap="all" dirty="0">
                <a:cs typeface="Segoe UI" panose="020B0502040204020203" pitchFamily="34" charset="0"/>
              </a:rPr>
              <a:t>02</a:t>
            </a:r>
            <a:endParaRPr lang="en-US" sz="1200" dirty="0"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A6E9DB-7D13-82BE-A90F-14A1B30B788F}"/>
              </a:ext>
            </a:extLst>
          </p:cNvPr>
          <p:cNvSpPr txBox="1"/>
          <p:nvPr/>
        </p:nvSpPr>
        <p:spPr>
          <a:xfrm>
            <a:off x="7330109" y="224332"/>
            <a:ext cx="33378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b="1" cap="all" dirty="0">
                <a:cs typeface="Segoe UI" panose="020B0502040204020203" pitchFamily="34" charset="0"/>
              </a:rPr>
              <a:t>November 2025</a:t>
            </a:r>
            <a:endParaRPr lang="en-US" sz="1200" dirty="0">
              <a:cs typeface="Segoe UI" panose="020B0502040204020203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9C32542-8C01-C486-B47A-9F271583584A}"/>
              </a:ext>
            </a:extLst>
          </p:cNvPr>
          <p:cNvCxnSpPr>
            <a:cxnSpLocks/>
          </p:cNvCxnSpPr>
          <p:nvPr/>
        </p:nvCxnSpPr>
        <p:spPr>
          <a:xfrm>
            <a:off x="366713" y="591547"/>
            <a:ext cx="11299031" cy="0"/>
          </a:xfrm>
          <a:prstGeom prst="line">
            <a:avLst/>
          </a:prstGeom>
          <a:ln w="12700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924B130-740D-E5BE-B413-1087D612C685}"/>
              </a:ext>
            </a:extLst>
          </p:cNvPr>
          <p:cNvSpPr txBox="1"/>
          <p:nvPr/>
        </p:nvSpPr>
        <p:spPr>
          <a:xfrm>
            <a:off x="261104" y="865879"/>
            <a:ext cx="43495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effectLst/>
                <a:latin typeface="+mj-lt"/>
                <a:cs typeface="Segoe UI" panose="020B0502040204020203" pitchFamily="34" charset="0"/>
              </a:rPr>
              <a:t>RECENT PROGRESS</a:t>
            </a:r>
            <a:endParaRPr lang="en-US" sz="3600" b="1" dirty="0"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C4343A-146B-39E5-1828-A97A20F3F537}"/>
              </a:ext>
            </a:extLst>
          </p:cNvPr>
          <p:cNvSpPr txBox="1"/>
          <p:nvPr/>
        </p:nvSpPr>
        <p:spPr>
          <a:xfrm>
            <a:off x="261104" y="1461716"/>
            <a:ext cx="3628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cs typeface="Segoe UI Semilight" panose="020B0402040204020203" pitchFamily="34" charset="0"/>
              </a:rPr>
              <a:t>Northwind Test Analytics Platform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847A2DF-07B3-4923-FF2C-097273F12957}"/>
              </a:ext>
            </a:extLst>
          </p:cNvPr>
          <p:cNvSpPr txBox="1"/>
          <p:nvPr/>
        </p:nvSpPr>
        <p:spPr>
          <a:xfrm>
            <a:off x="7593496" y="6355711"/>
            <a:ext cx="41876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effectLst/>
                <a:latin typeface="Segoe UI Semilight" panose="020B0402040204020203" pitchFamily="34" charset="0"/>
                <a:cs typeface="Segoe UI Semilight" panose="020B0402040204020203" pitchFamily="34" charset="0"/>
              </a:rPr>
              <a:t>LAST UPDATED: NOVEMBER RELEASE CYCLE</a:t>
            </a:r>
            <a:endParaRPr lang="en-US" sz="1400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DE90E25-6629-0414-8F54-83D31392E2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2710565"/>
              </p:ext>
            </p:extLst>
          </p:nvPr>
        </p:nvGraphicFramePr>
        <p:xfrm>
          <a:off x="1078396" y="2108047"/>
          <a:ext cx="4909278" cy="36734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7831">
                  <a:extLst>
                    <a:ext uri="{9D8B030D-6E8A-4147-A177-3AD203B41FA5}">
                      <a16:colId xmlns:a16="http://schemas.microsoft.com/office/drawing/2014/main" val="63885573"/>
                    </a:ext>
                  </a:extLst>
                </a:gridCol>
                <a:gridCol w="3961447">
                  <a:extLst>
                    <a:ext uri="{9D8B030D-6E8A-4147-A177-3AD203B41FA5}">
                      <a16:colId xmlns:a16="http://schemas.microsoft.com/office/drawing/2014/main" val="4213196885"/>
                    </a:ext>
                  </a:extLst>
                </a:gridCol>
              </a:tblGrid>
              <a:tr h="640080">
                <a:tc gridSpan="2">
                  <a:txBody>
                    <a:bodyPr/>
                    <a:lstStyle/>
                    <a:p>
                      <a:pPr marL="91440"/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ACCOMPLISHMENTS</a:t>
                      </a:r>
                      <a:endParaRPr lang="en-US" baseline="0" dirty="0">
                        <a:solidFill>
                          <a:schemeClr val="tx1"/>
                        </a:solidFill>
                        <a:latin typeface="Segoe UI Semibold" panose="020B0702040204020203" pitchFamily="34" charset="0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544817"/>
                  </a:ext>
                </a:extLst>
              </a:tr>
              <a:tr h="106984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3">
                        <a:extLst>
                          <a:ext uri="{96DAC541-7B7A-43D3-8B79-37D633B846F1}">
                            <asvg:svgBlip xmlns:asvg="http://schemas.microsoft.com/office/drawing/2016/SVG/main" r:embed="rId4"/>
                          </a:ext>
                        </a:extLst>
                      </a:blip>
                      <a:srcRect/>
                      <a:stretch>
                        <a:fillRect l="10000" t="15000" r="10000" b="15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/>
                        </a:rPr>
                        <a:t>New </a:t>
                      </a:r>
                      <a:r>
                        <a:rPr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/>
                        </a:rPr>
                        <a:t>data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/>
                        </a:rPr>
                        <a:t> </a:t>
                      </a:r>
                      <a:r>
                        <a:rPr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/>
                        </a:rPr>
                        <a:t>ingestion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/>
                        </a:rPr>
                        <a:t> </a:t>
                      </a:r>
                      <a:r>
                        <a:rPr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/>
                        </a:rPr>
                        <a:t>pipeline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/>
                        </a:rPr>
                        <a:t> </a:t>
                      </a:r>
                      <a:r>
                        <a:rPr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/>
                        </a:rPr>
                        <a:t>delivered</a:t>
                      </a:r>
                      <a:endParaRPr kumimoji="0" lang="en-US" sz="1400" b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</a:rPr>
                        <a:t>Optimized </a:t>
                      </a:r>
                      <a:r>
                        <a:rPr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</a:rPr>
                        <a:t>for</a:t>
                      </a: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</a:rPr>
                        <a:t> </a:t>
                      </a:r>
                      <a:r>
                        <a:rPr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</a:rPr>
                        <a:t>high-volume</a:t>
                      </a: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</a:rPr>
                        <a:t> </a:t>
                      </a:r>
                      <a:r>
                        <a:rPr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</a:rPr>
                        <a:t>stream processing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Segoe UI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0185824"/>
                  </a:ext>
                </a:extLst>
              </a:tr>
              <a:tr h="100340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T w="1270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5">
                        <a:extLst>
                          <a:ext uri="{96DAC541-7B7A-43D3-8B79-37D633B846F1}">
                            <asvg:svgBlip xmlns:asvg="http://schemas.microsoft.com/office/drawing/2016/SVG/main" r:embed="rId6"/>
                          </a:ext>
                        </a:extLst>
                      </a:blip>
                      <a:srcRect/>
                      <a:stretch>
                        <a:fillRect l="13000" t="15000" r="13000" b="15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Dashboard </a:t>
                      </a:r>
                      <a:r>
                        <a:rPr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preview</a:t>
                      </a: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 </a:t>
                      </a:r>
                      <a:r>
                        <a:rPr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deployed</a:t>
                      </a: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 </a:t>
                      </a:r>
                      <a:r>
                        <a:rPr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to</a:t>
                      </a: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 </a:t>
                      </a:r>
                      <a:r>
                        <a:rPr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staging</a:t>
                      </a:r>
                      <a:endParaRPr kumimoji="0" lang="en-US" sz="1400" b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</a:rPr>
                        <a:t>Stakeholder </a:t>
                      </a:r>
                      <a:r>
                        <a:rPr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</a:rPr>
                        <a:t>feedback</a:t>
                      </a: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</a:rPr>
                        <a:t> </a:t>
                      </a:r>
                      <a:r>
                        <a:rPr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</a:rPr>
                        <a:t>loop</a:t>
                      </a: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</a:rPr>
                        <a:t> </a:t>
                      </a:r>
                      <a:r>
                        <a:rPr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</a:rPr>
                        <a:t>initiated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8214688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T w="1270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blipFill dpi="0" rotWithShape="1">
                      <a:blip r:embed="rId7">
                        <a:extLst>
                          <a:ext uri="{96DAC541-7B7A-43D3-8B79-37D633B846F1}">
                            <asvg:svgBlip xmlns:asvg="http://schemas.microsoft.com/office/drawing/2016/SVG/main" r:embed="rId8"/>
                          </a:ext>
                        </a:extLst>
                      </a:blip>
                      <a:srcRect/>
                      <a:stretch>
                        <a:fillRect l="10000" t="10000" r="10000" b="10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Authentication </a:t>
                      </a:r>
                      <a:r>
                        <a:rPr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module</a:t>
                      </a: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 </a:t>
                      </a:r>
                      <a:r>
                        <a:rPr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refactored</a:t>
                      </a:r>
                      <a:endParaRPr kumimoji="0" lang="en-US" sz="1400" b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</a:rPr>
                        <a:t>Improved security</a:t>
                      </a: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</a:rPr>
                        <a:t> </a:t>
                      </a:r>
                      <a:r>
                        <a:rPr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</a:rPr>
                        <a:t>and</a:t>
                      </a: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</a:rPr>
                        <a:t> </a:t>
                      </a:r>
                      <a:r>
                        <a:rPr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</a:rPr>
                        <a:t>OAuth2</a:t>
                      </a: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</a:rPr>
                        <a:t> </a:t>
                      </a:r>
                      <a:r>
                        <a:rPr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</a:rPr>
                        <a:t>compliance</a:t>
                      </a:r>
                      <a:endParaRPr kumimoji="0" lang="en-US" sz="1400" b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uLnTx/>
                        <a:uFillTx/>
                        <a:ea typeface="+mn-ea"/>
                        <a:cs typeface="Segoe UI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926343715"/>
                  </a:ext>
                </a:extLst>
              </a:tr>
            </a:tbl>
          </a:graphicData>
        </a:graphic>
      </p:graphicFrame>
      <p:grpSp>
        <p:nvGrpSpPr>
          <p:cNvPr id="23" name="Group 22">
            <a:extLst>
              <a:ext uri="{FF2B5EF4-FFF2-40B4-BE49-F238E27FC236}">
                <a16:creationId xmlns:a16="http://schemas.microsoft.com/office/drawing/2014/main" id="{4A864F84-20E0-329B-3BB9-02CEEA5CFB74}"/>
              </a:ext>
            </a:extLst>
          </p:cNvPr>
          <p:cNvGrpSpPr/>
          <p:nvPr/>
        </p:nvGrpSpPr>
        <p:grpSpPr>
          <a:xfrm>
            <a:off x="7021368" y="962190"/>
            <a:ext cx="4759815" cy="4837878"/>
            <a:chOff x="7021368" y="962190"/>
            <a:chExt cx="4759815" cy="483787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49DE016C-9B47-3158-DA87-AF85EB232BE8}"/>
                </a:ext>
              </a:extLst>
            </p:cNvPr>
            <p:cNvGrpSpPr/>
            <p:nvPr/>
          </p:nvGrpSpPr>
          <p:grpSpPr>
            <a:xfrm>
              <a:off x="7021368" y="962190"/>
              <a:ext cx="4759815" cy="4837878"/>
              <a:chOff x="7021368" y="962190"/>
              <a:chExt cx="4759815" cy="4837878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E2F22F7-E226-91AB-D66C-31D2C4A4493F}"/>
                  </a:ext>
                </a:extLst>
              </p:cNvPr>
              <p:cNvSpPr txBox="1"/>
              <p:nvPr/>
            </p:nvSpPr>
            <p:spPr>
              <a:xfrm>
                <a:off x="7021368" y="962190"/>
                <a:ext cx="185499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effectLst/>
                    <a:latin typeface="Segoe UI Semibold" panose="020B0702040204020203" pitchFamily="34" charset="0"/>
                    <a:cs typeface="Segoe UI Semibold" panose="020B0702040204020203" pitchFamily="34" charset="0"/>
                  </a:rPr>
                  <a:t>PERFORMANCE KPIs</a:t>
                </a:r>
                <a:endParaRPr lang="en-US" sz="1400" dirty="0">
                  <a:latin typeface="Segoe UI Semibold" panose="020B0702040204020203" pitchFamily="34" charset="0"/>
                  <a:cs typeface="Segoe UI Semibold" panose="020B0702040204020203" pitchFamily="34" charset="0"/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F5835FA0-C33B-BD6C-E2C0-0B9D3AF49FFE}"/>
                  </a:ext>
                </a:extLst>
              </p:cNvPr>
              <p:cNvSpPr/>
              <p:nvPr/>
            </p:nvSpPr>
            <p:spPr>
              <a:xfrm>
                <a:off x="7131326" y="1406387"/>
                <a:ext cx="4649857" cy="122748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99C4E7B-FEE3-D50B-71F8-9532F3AB290E}"/>
                  </a:ext>
                </a:extLst>
              </p:cNvPr>
              <p:cNvSpPr txBox="1"/>
              <p:nvPr/>
            </p:nvSpPr>
            <p:spPr>
              <a:xfrm>
                <a:off x="7193646" y="1523271"/>
                <a:ext cx="1699568" cy="307777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rtlCol="0" anchor="t">
                <a:spAutoFit/>
              </a:bodyPr>
              <a:lstStyle/>
              <a:p>
                <a:r>
                  <a:rPr lang="en-US" sz="1400" dirty="0">
                    <a:effectLst/>
                    <a:latin typeface="Segoe UI Semibold"/>
                    <a:cs typeface="Segoe UI Semibold"/>
                  </a:rPr>
                  <a:t>Backlog </a:t>
                </a:r>
                <a:r>
                  <a:rPr lang="en-US" sz="1400" dirty="0">
                    <a:latin typeface="Segoe UI Semibold"/>
                    <a:cs typeface="Segoe UI Semibold"/>
                  </a:rPr>
                  <a:t>reduction</a:t>
                </a:r>
                <a:endParaRPr lang="en-US" sz="1400" dirty="0">
                  <a:latin typeface="Segoe UI Semibold" panose="020B0702040204020203" pitchFamily="34" charset="0"/>
                  <a:cs typeface="Segoe UI Semibold" panose="020B0702040204020203" pitchFamily="34" charset="0"/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B9E8FB9-8513-BCB9-0C0A-B81587B1E15C}"/>
                  </a:ext>
                </a:extLst>
              </p:cNvPr>
              <p:cNvSpPr txBox="1"/>
              <p:nvPr/>
            </p:nvSpPr>
            <p:spPr>
              <a:xfrm>
                <a:off x="10090206" y="1649586"/>
                <a:ext cx="1260281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4000" b="1" dirty="0">
                    <a:effectLst/>
                    <a:latin typeface="Segoe UI Black" panose="020B0A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27%</a:t>
                </a:r>
                <a:endParaRPr lang="en-US" sz="4000" b="1" dirty="0">
                  <a:latin typeface="Segoe UI Black" panose="020B0A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05A58E46-2529-85F0-6D01-B9F0415CE4BB}"/>
                  </a:ext>
                </a:extLst>
              </p:cNvPr>
              <p:cNvSpPr/>
              <p:nvPr/>
            </p:nvSpPr>
            <p:spPr>
              <a:xfrm>
                <a:off x="7131326" y="2851213"/>
                <a:ext cx="4649857" cy="122748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86A1C67-6BAF-020C-8C60-4B4F2B860F01}"/>
                  </a:ext>
                </a:extLst>
              </p:cNvPr>
              <p:cNvSpPr txBox="1"/>
              <p:nvPr/>
            </p:nvSpPr>
            <p:spPr>
              <a:xfrm>
                <a:off x="7193646" y="2968097"/>
                <a:ext cx="951927" cy="307777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rtlCol="0" anchor="t">
                <a:spAutoFit/>
              </a:bodyPr>
              <a:lstStyle/>
              <a:p>
                <a:r>
                  <a:rPr lang="en-US" sz="1400" dirty="0">
                    <a:effectLst/>
                    <a:latin typeface="Segoe UI Semibold"/>
                    <a:cs typeface="Segoe UI Semibold"/>
                  </a:rPr>
                  <a:t>Bug </a:t>
                </a:r>
                <a:r>
                  <a:rPr lang="en-US" sz="1400" dirty="0">
                    <a:latin typeface="Segoe UI Semibold"/>
                    <a:cs typeface="Segoe UI Semibold"/>
                  </a:rPr>
                  <a:t>fixes</a:t>
                </a:r>
                <a:endParaRPr lang="en-US" sz="1400" dirty="0">
                  <a:latin typeface="Segoe UI Semibold" panose="020B0702040204020203" pitchFamily="34" charset="0"/>
                  <a:cs typeface="Segoe UI Semibold" panose="020B0702040204020203" pitchFamily="34" charset="0"/>
                </a:endParaRP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064CC99-1163-4432-D967-A875528696E7}"/>
                  </a:ext>
                </a:extLst>
              </p:cNvPr>
              <p:cNvSpPr txBox="1"/>
              <p:nvPr/>
            </p:nvSpPr>
            <p:spPr>
              <a:xfrm>
                <a:off x="10609580" y="3094412"/>
                <a:ext cx="740907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4000" b="1" dirty="0">
                    <a:effectLst/>
                    <a:latin typeface="Segoe UI Black" panose="020B0A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18</a:t>
                </a:r>
                <a:endParaRPr lang="en-US" sz="4000" b="1" dirty="0">
                  <a:latin typeface="Segoe UI Black" panose="020B0A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810AFBE5-EDD8-2424-DB01-9BC054445C71}"/>
                  </a:ext>
                </a:extLst>
              </p:cNvPr>
              <p:cNvSpPr/>
              <p:nvPr/>
            </p:nvSpPr>
            <p:spPr>
              <a:xfrm>
                <a:off x="7110700" y="4295586"/>
                <a:ext cx="4649857" cy="122748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1EF75AC-D846-48F5-47FA-3D1A78E92047}"/>
                  </a:ext>
                </a:extLst>
              </p:cNvPr>
              <p:cNvSpPr txBox="1"/>
              <p:nvPr/>
            </p:nvSpPr>
            <p:spPr>
              <a:xfrm>
                <a:off x="7173020" y="4412470"/>
                <a:ext cx="78418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effectLst/>
                    <a:latin typeface="Segoe UI Semibold" panose="020B0702040204020203" pitchFamily="34" charset="0"/>
                    <a:cs typeface="Segoe UI Semibold" panose="020B0702040204020203" pitchFamily="34" charset="0"/>
                  </a:rPr>
                  <a:t>Uptime</a:t>
                </a:r>
                <a:endParaRPr lang="en-US" sz="1400" dirty="0">
                  <a:latin typeface="Segoe UI Semibold" panose="020B0702040204020203" pitchFamily="34" charset="0"/>
                  <a:cs typeface="Segoe UI Semibold" panose="020B0702040204020203" pitchFamily="34" charset="0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4F229FC-65EC-775C-7CDC-04ECEB8CC3E9}"/>
                  </a:ext>
                </a:extLst>
              </p:cNvPr>
              <p:cNvSpPr txBox="1"/>
              <p:nvPr/>
            </p:nvSpPr>
            <p:spPr>
              <a:xfrm>
                <a:off x="9587075" y="4538785"/>
                <a:ext cx="1742786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4000" b="1" dirty="0">
                    <a:effectLst/>
                    <a:latin typeface="Segoe UI Black" panose="020B0A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99.4%</a:t>
                </a:r>
                <a:endParaRPr lang="en-US" sz="4000" b="1" dirty="0">
                  <a:latin typeface="Segoe UI Black" panose="020B0A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E63CBEA-676F-D7AA-C0D2-7EEBA2C38AF0}"/>
                  </a:ext>
                </a:extLst>
              </p:cNvPr>
              <p:cNvSpPr txBox="1"/>
              <p:nvPr/>
            </p:nvSpPr>
            <p:spPr>
              <a:xfrm>
                <a:off x="7021368" y="5523069"/>
                <a:ext cx="203421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i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effectLst/>
                    <a:cs typeface="Segoe UI" panose="020B0502040204020203" pitchFamily="34" charset="0"/>
                  </a:rPr>
                  <a:t>Data captured: Last 30 days</a:t>
                </a:r>
                <a:endParaRPr lang="en-US" sz="1200" i="1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Segoe UI" panose="020B0502040204020203" pitchFamily="34" charset="0"/>
                </a:endParaRP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25ED036-D694-1109-8E9A-0D6C64BE0B10}"/>
                  </a:ext>
                </a:extLst>
              </p:cNvPr>
              <p:cNvSpPr txBox="1"/>
              <p:nvPr/>
            </p:nvSpPr>
            <p:spPr>
              <a:xfrm>
                <a:off x="10232745" y="3666508"/>
                <a:ext cx="111774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effectLst/>
                    <a:cs typeface="Segoe UI" panose="020B0502040204020203" pitchFamily="34" charset="0"/>
                  </a:rPr>
                  <a:t>Closed</a:t>
                </a:r>
                <a:r>
                  <a:rPr lang="en-US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rPr>
                  <a:t> tickets</a:t>
                </a:r>
                <a:endPara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CB63AB1D-0943-3C1C-8D94-18D78DE9264D}"/>
                  </a:ext>
                </a:extLst>
              </p:cNvPr>
              <p:cNvSpPr txBox="1"/>
              <p:nvPr/>
            </p:nvSpPr>
            <p:spPr>
              <a:xfrm>
                <a:off x="10203557" y="5155318"/>
                <a:ext cx="10880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rPr>
                  <a:t>Target: 99.0%</a:t>
                </a:r>
                <a:endPara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3B94E1B2-7B2F-86AA-4011-2516233EBA5A}"/>
                </a:ext>
              </a:extLst>
            </p:cNvPr>
            <p:cNvCxnSpPr>
              <a:cxnSpLocks/>
            </p:cNvCxnSpPr>
            <p:nvPr/>
          </p:nvCxnSpPr>
          <p:spPr>
            <a:xfrm>
              <a:off x="11391742" y="1938093"/>
              <a:ext cx="0" cy="256032"/>
            </a:xfrm>
            <a:prstGeom prst="straightConnector1">
              <a:avLst/>
            </a:prstGeom>
            <a:ln w="34925"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31140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70747-B3FC-86AB-6953-F92CFFB62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45A688C-B5BA-83EE-B43B-6578C8DD99CE}"/>
              </a:ext>
            </a:extLst>
          </p:cNvPr>
          <p:cNvSpPr txBox="1"/>
          <p:nvPr/>
        </p:nvSpPr>
        <p:spPr>
          <a:xfrm>
            <a:off x="284922" y="224332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cap="all" dirty="0">
                <a:cs typeface="Segoe UI" panose="020B0502040204020203" pitchFamily="34" charset="0"/>
              </a:rPr>
              <a:t>Status Report</a:t>
            </a:r>
            <a:endParaRPr lang="en-US" sz="1200" dirty="0"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6ACD4E-6957-C2EC-555F-BBFDFE5E9581}"/>
              </a:ext>
            </a:extLst>
          </p:cNvPr>
          <p:cNvSpPr txBox="1"/>
          <p:nvPr/>
        </p:nvSpPr>
        <p:spPr>
          <a:xfrm>
            <a:off x="11350487" y="224332"/>
            <a:ext cx="4306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b="1" cap="all" dirty="0">
                <a:cs typeface="Segoe UI" panose="020B0502040204020203" pitchFamily="34" charset="0"/>
              </a:rPr>
              <a:t>03</a:t>
            </a:r>
            <a:endParaRPr lang="en-US" sz="1200" dirty="0"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3581C3-DCF1-DF6A-C882-656530C389D2}"/>
              </a:ext>
            </a:extLst>
          </p:cNvPr>
          <p:cNvSpPr txBox="1"/>
          <p:nvPr/>
        </p:nvSpPr>
        <p:spPr>
          <a:xfrm>
            <a:off x="7330109" y="224332"/>
            <a:ext cx="33378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 b="1" cap="all">
                <a:cs typeface="Segoe UI" panose="020B0502040204020203" pitchFamily="34" charset="0"/>
              </a:rPr>
              <a:t>YEAR-END ROadmap</a:t>
            </a:r>
            <a:endParaRPr lang="en-US" sz="1200" dirty="0">
              <a:cs typeface="Segoe UI" panose="020B0502040204020203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95F9C2D-6DE0-7EFB-BAE3-B3B595BF9228}"/>
              </a:ext>
            </a:extLst>
          </p:cNvPr>
          <p:cNvCxnSpPr>
            <a:cxnSpLocks/>
          </p:cNvCxnSpPr>
          <p:nvPr/>
        </p:nvCxnSpPr>
        <p:spPr>
          <a:xfrm>
            <a:off x="366713" y="591547"/>
            <a:ext cx="11299031" cy="0"/>
          </a:xfrm>
          <a:prstGeom prst="line">
            <a:avLst/>
          </a:prstGeom>
          <a:ln w="12700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B3AB600-305E-66B0-BFDE-C52572CC62B0}"/>
              </a:ext>
            </a:extLst>
          </p:cNvPr>
          <p:cNvSpPr txBox="1"/>
          <p:nvPr/>
        </p:nvSpPr>
        <p:spPr>
          <a:xfrm>
            <a:off x="261104" y="865879"/>
            <a:ext cx="42232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effectLst/>
                <a:latin typeface="+mj-lt"/>
                <a:cs typeface="Segoe UI" panose="020B0502040204020203" pitchFamily="34" charset="0"/>
              </a:rPr>
              <a:t>UPCOMING TASKS</a:t>
            </a:r>
            <a:endParaRPr lang="en-US" sz="3600" b="1" dirty="0"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368AD1-462A-F179-2460-5B57A3C533F8}"/>
              </a:ext>
            </a:extLst>
          </p:cNvPr>
          <p:cNvSpPr txBox="1"/>
          <p:nvPr/>
        </p:nvSpPr>
        <p:spPr>
          <a:xfrm>
            <a:off x="261104" y="1461716"/>
            <a:ext cx="3628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cs typeface="Segoe UI Semilight" panose="020B0402040204020203" pitchFamily="34" charset="0"/>
              </a:rPr>
              <a:t>Northwind Test Analytics Platform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F838124-3A4D-5790-0FD3-8AC12B6BD0C2}"/>
              </a:ext>
            </a:extLst>
          </p:cNvPr>
          <p:cNvSpPr txBox="1"/>
          <p:nvPr/>
        </p:nvSpPr>
        <p:spPr>
          <a:xfrm>
            <a:off x="7593496" y="6355711"/>
            <a:ext cx="41876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CONTACT: OPS@TESTEMAIL.REAL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423AB21-E8D5-ED62-E831-24F3733FB5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5292694"/>
              </p:ext>
            </p:extLst>
          </p:nvPr>
        </p:nvGraphicFramePr>
        <p:xfrm>
          <a:off x="1078395" y="2062538"/>
          <a:ext cx="9725440" cy="36981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7050">
                  <a:extLst>
                    <a:ext uri="{9D8B030D-6E8A-4147-A177-3AD203B41FA5}">
                      <a16:colId xmlns:a16="http://schemas.microsoft.com/office/drawing/2014/main" val="4055190083"/>
                    </a:ext>
                  </a:extLst>
                </a:gridCol>
                <a:gridCol w="3522518">
                  <a:extLst>
                    <a:ext uri="{9D8B030D-6E8A-4147-A177-3AD203B41FA5}">
                      <a16:colId xmlns:a16="http://schemas.microsoft.com/office/drawing/2014/main" val="3595808181"/>
                    </a:ext>
                  </a:extLst>
                </a:gridCol>
                <a:gridCol w="3751118">
                  <a:extLst>
                    <a:ext uri="{9D8B030D-6E8A-4147-A177-3AD203B41FA5}">
                      <a16:colId xmlns:a16="http://schemas.microsoft.com/office/drawing/2014/main" val="4133160683"/>
                    </a:ext>
                  </a:extLst>
                </a:gridCol>
                <a:gridCol w="1524754">
                  <a:extLst>
                    <a:ext uri="{9D8B030D-6E8A-4147-A177-3AD203B41FA5}">
                      <a16:colId xmlns:a16="http://schemas.microsoft.com/office/drawing/2014/main" val="3774282753"/>
                    </a:ext>
                  </a:extLst>
                </a:gridCol>
              </a:tblGrid>
              <a:tr h="680662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TASK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OWNER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 Semibold" panose="020B0702040204020203" pitchFamily="34" charset="0"/>
                          <a:cs typeface="Segoe UI Semibold" panose="020B0702040204020203" pitchFamily="34" charset="0"/>
                        </a:rPr>
                        <a:t>DEADLINE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 Semibold" panose="020B0702040204020203" pitchFamily="34" charset="0"/>
                        <a:ea typeface="+mn-ea"/>
                        <a:cs typeface="Segoe UI Semibold" panose="020B07020402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8057505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 dpi="0" rotWithShape="1">
                      <a:blip r:embed="rId3">
                        <a:extLst>
                          <a:ext uri="{96DAC541-7B7A-43D3-8B79-37D633B846F1}">
                            <asvg:svgBlip xmlns:asvg="http://schemas.microsoft.com/office/drawing/2016/SVG/main" r:embed="rId4"/>
                          </a:ext>
                        </a:extLst>
                      </a:blip>
                      <a:srcRect/>
                      <a:stretch>
                        <a:fillRect l="15000" t="17000" r="15000" b="17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Load Testing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</a:rPr>
                        <a:t>Performance Validation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DevOps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November 15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6136476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 dpi="0" rotWithShape="1">
                      <a:blip r:embed="rId5">
                        <a:extLst>
                          <a:ext uri="{96DAC541-7B7A-43D3-8B79-37D633B846F1}">
                            <asvg:svgBlip xmlns:asvg="http://schemas.microsoft.com/office/drawing/2016/SVG/main" r:embed="rId6"/>
                          </a:ext>
                        </a:extLst>
                      </a:blip>
                      <a:srcRect/>
                      <a:stretch>
                        <a:fillRect l="10000" t="17000" r="10000" b="13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Monitoring Setup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</a:rPr>
                        <a:t>Infrastructure Observability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Infra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November 20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53662985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 dpi="0" rotWithShape="1">
                      <a:blip r:embed="rId7">
                        <a:extLst>
                          <a:ext uri="{96DAC541-7B7A-43D3-8B79-37D633B846F1}">
                            <asvg:svgBlip xmlns:asvg="http://schemas.microsoft.com/office/drawing/2016/SVG/main" r:embed="rId8"/>
                          </a:ext>
                        </a:extLst>
                      </a:blip>
                      <a:srcRect/>
                      <a:stretch>
                        <a:fillRect l="13000" t="17000" r="13000" b="1300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Documentation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uLnTx/>
                          <a:uFillTx/>
                        </a:rPr>
                        <a:t>User Guides &amp; API Docs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Product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December 01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Segoe UI" panose="020B0502040204020203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10000"/>
                          <a:lumOff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32489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7665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Color Schema">
      <a:dk1>
        <a:srgbClr val="2D2D2D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Segoe UI Fonts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  <a:solidFill>
          <a:schemeClr val="phClr">
            <a:tint val="95000"/>
            <a:satMod val="170000"/>
          </a:schemeClr>
        </a:soli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4123</TotalTime>
  <Words>155</Words>
  <Application>Microsoft Office PowerPoint</Application>
  <PresentationFormat>Widescreen</PresentationFormat>
  <Paragraphs>68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2" baseType="lpstr">
      <vt:lpstr>Aptos</vt:lpstr>
      <vt:lpstr>Arial</vt:lpstr>
      <vt:lpstr>Courier New</vt:lpstr>
      <vt:lpstr>Segoe UI</vt:lpstr>
      <vt:lpstr>Segoe UI Black</vt:lpstr>
      <vt:lpstr>Segoe UI Semibold</vt:lpstr>
      <vt:lpstr>Segoe UI Semilight</vt:lpstr>
      <vt:lpstr>Wingdings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DevExpress</dc:creator>
  <cp:lastModifiedBy>DevExpress</cp:lastModifiedBy>
  <cp:revision>31</cp:revision>
  <dcterms:created xsi:type="dcterms:W3CDTF">2025-11-28T14:25:42Z</dcterms:created>
  <dcterms:modified xsi:type="dcterms:W3CDTF">2025-12-03T10:42:34Z</dcterms:modified>
</cp:coreProperties>
</file>