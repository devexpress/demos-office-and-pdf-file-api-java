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notesMasterIdLst>
    <p:notesMasterId r:id="rId12"/>
  </p:notesMasterIdLst>
  <p:sldIdLst>
    <p:sldId id="271" r:id="rId5"/>
    <p:sldId id="272" r:id="rId6"/>
    <p:sldId id="279" r:id="rId7"/>
    <p:sldId id="278" r:id="rId8"/>
    <p:sldId id="274" r:id="rId9"/>
    <p:sldId id="276" r:id="rId10"/>
    <p:sldId id="277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03C"/>
    <a:srgbClr val="E6E3DA"/>
    <a:srgbClr val="E7E4D6"/>
    <a:srgbClr val="D9D1BF"/>
    <a:srgbClr val="E6DDC8"/>
    <a:srgbClr val="F0ECDA"/>
    <a:srgbClr val="E4E4E4"/>
    <a:srgbClr val="CCE2DD"/>
    <a:srgbClr val="26423D"/>
    <a:srgbClr val="3E5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922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7A5C-04BA-48DC-B512-2EAB7558CB83}" type="datetimeFigureOut">
              <a:rPr lang="en-US" smtClean="0"/>
              <a:t>2025-11-13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046B9-D4E7-4231-8181-A04B42F44B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8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F19B-2B82-BA22-CC9B-F8F26E259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4338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5F3B3-3490-A55D-FE66-3BA0AF55C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400A3-8C41-9E42-5A12-617BD9AB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8231-2462-4509-8B56-66F859EBD9A6}" type="datetime1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669FF-6FC5-D9DD-1C11-F8ED801C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5D0D-15B4-09CE-D911-F1666884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5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7529-051B-0391-0831-2624F4A2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2A3D-FDEC-119F-1014-F0D2D32C4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26A6C-22D5-2276-BF35-F978786A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40FED-E005-4885-A69D-BC6C1D8A7D0A}" type="datetime1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7D9C3-1763-7EF8-715E-79D44466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342B8-C0AC-D658-96F4-B32B88CD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7B5B-FCC7-69DF-F1D9-DDAE578A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10DF0-D6A9-8E9F-74D4-C09067E68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B8333-E8E0-FF8F-8856-37F2F9D6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D54CD-66D3-497F-AFA6-29A3AA13F8C1}" type="datetime1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51AFF-7216-7DBE-FDF6-C0AE9E3C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38769-3783-1877-FD42-17DFC33C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020E-8A36-EAB6-9862-D075C965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51870-945F-FA49-FDA6-904FF1C0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D204D-6B3E-D991-B4FE-592EE9068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A754D-0171-8E8E-474B-DAEB18BD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09F6B-5AD7-40A6-A008-3986B9326390}" type="datetime1">
              <a:rPr lang="en-US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5ACFF-46CA-705B-BD11-1F1DAD3A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E8B1E-6ECA-1DBA-2290-5E17FAC82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9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2D36-7845-3913-F575-2CB2030BF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E96B8-C767-5CB8-24E5-018797E9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01578-B540-1044-6F58-860C1F978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ED27F-FBF8-487C-132B-575CE3D2E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8C852-8F12-468E-E3D6-57A61A2B0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924E4-045B-EF5C-3A59-189F9D58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9D2E6-2D6A-48CD-A82F-EA586E76916B}" type="datetime1">
              <a:rPr lang="en-US" smtClean="0"/>
              <a:t>2025-11-13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4AA000-0F63-993D-9E71-D400A2AAA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7B0E1-018A-BBCF-58C7-923D1621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6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8DCB-2C29-2C21-9776-CB1D6867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CAB7C-D2B5-2A37-D648-F34B4A24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9365-270F-4F59-A787-0D46FCB37576}" type="datetime1">
              <a:rPr lang="en-US" smtClean="0"/>
              <a:t>2025-11-13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1D513-059A-B0BD-B150-EC1895EF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EB328A-7A6C-314E-597A-0089E0FA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A4991-762F-559C-96BA-9CA362EF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15252" y="9254665"/>
            <a:ext cx="10401300" cy="547688"/>
          </a:xfrm>
        </p:spPr>
        <p:txBody>
          <a:bodyPr/>
          <a:lstStyle>
            <a:lvl1pPr algn="r">
              <a:defRPr sz="2000" i="1" u="sng" baseline="0">
                <a:solidFill>
                  <a:srgbClr val="3E524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Your Dream Home Awaits - www.northwind.com</a:t>
            </a:r>
          </a:p>
        </p:txBody>
      </p:sp>
    </p:spTree>
    <p:extLst>
      <p:ext uri="{BB962C8B-B14F-4D97-AF65-F5344CB8AC3E}">
        <p14:creationId xmlns:p14="http://schemas.microsoft.com/office/powerpoint/2010/main" val="400737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F4D01-709B-AA40-6B74-E2CABC695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C8CF-A265-41D3-E51A-7D58409F4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38068-0262-D7C6-8030-41F5F593C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07D97-A7E6-82EA-8C51-0377CE2E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827A-171A-48AE-85F1-3C30B0F8DC8E}" type="datetime1">
              <a:rPr lang="en-US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D980F-5D67-8765-9F72-8A7DC854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6FB98-2ABC-9833-F793-DBF841EE9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13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2F27-28E5-20F2-1777-24F64FCD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B5BE46-56AA-F810-C962-005503747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F299F-3669-92F3-9070-F02935406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460264-0EAB-3E43-760C-0D69D9DC3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045D-2F69-484E-835D-CE480FBA2F9D}" type="datetime1">
              <a:rPr lang="en-US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C6959-C5EF-956D-01C7-2E58B545D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D3D97-7306-D404-E048-DBD801E3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0F1C-152D-DE8F-935A-F5D2F914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835E7-5E9A-EBFA-CC74-8353D0E21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3C9D8-B4F1-D1D3-9165-1E2C0C2E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20D7-CE60-46A4-8A7F-FFE957B752D0}" type="datetime1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7CF3C-3959-C183-D5B1-83EDA552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28471-A2B9-BA8E-9260-879382FA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8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55E39-058A-28F0-E7CD-B5F1DED8B0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36AB6-CD74-886A-62F6-54C0EB6C5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E8036-44CC-6F35-4E11-EFF0445B4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50AA-2BDB-4244-8C82-941EBA4BF261}" type="datetime1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8C9D-CFD6-95AE-965E-A81E2823B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16AB1-1F46-EE09-9B9A-D32DA58F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CACEBE-5ADA-7B98-B781-1180CDD93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A3C52-E3DE-5398-A341-DE60F4F68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0CFC2-391D-A6C0-7AAE-9FD928F31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01282-015F-48C2-B66F-5249E1004D52}" type="datetime1">
              <a:rPr lang="en-US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3509E-7DCF-ECD6-EC9F-8859C5444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Your Dream Home Awaits - www.northwind.com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80B9F-A3AF-8B84-523F-D9800EB0C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2D004-7BF7-4ACC-8ADB-84D053D30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09775" y="2486025"/>
            <a:ext cx="14306550" cy="265747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9869"/>
              </a:lnSpc>
            </a:pPr>
            <a:r>
              <a:rPr lang="en-US" sz="7000" b="1" u="none" dirty="0">
                <a:solidFill>
                  <a:srgbClr val="FFFFFF"/>
                </a:solidFill>
                <a:latin typeface="Arial"/>
                <a:ea typeface="Canva Sans Bold"/>
                <a:cs typeface="Arial"/>
                <a:sym typeface="Canva Sans Bold"/>
              </a:rPr>
              <a:t>North Wind</a:t>
            </a:r>
            <a:endParaRPr lang="en-US" sz="7000" b="1" u="none" dirty="0">
              <a:solidFill>
                <a:srgbClr val="FFFFFF"/>
              </a:solidFill>
              <a:latin typeface="Arial"/>
              <a:ea typeface="Canva Sans Bold"/>
              <a:cs typeface="Arial"/>
            </a:endParaRPr>
          </a:p>
          <a:p>
            <a:pPr algn="ctr">
              <a:lnSpc>
                <a:spcPts val="9869"/>
              </a:lnSpc>
            </a:pPr>
            <a:r>
              <a:rPr lang="en-US" sz="7000" b="1" u="none" dirty="0">
                <a:solidFill>
                  <a:srgbClr val="FFFFFF"/>
                </a:solidFill>
                <a:latin typeface="Arial"/>
                <a:ea typeface="Canva Sans Bold"/>
                <a:cs typeface="Arial"/>
                <a:sym typeface="Canva Sans Bold"/>
              </a:rPr>
              <a:t>Real Estate Agency</a:t>
            </a:r>
            <a:endParaRPr lang="en-US" sz="7000" b="1" u="none" dirty="0">
              <a:solidFill>
                <a:srgbClr val="FFFFFF"/>
              </a:solidFill>
              <a:latin typeface="Arial"/>
              <a:ea typeface="Canva Sans Bold"/>
              <a:cs typeface="Arial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017109" y="5851071"/>
            <a:ext cx="14306550" cy="911395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ctr">
              <a:lnSpc>
                <a:spcPts val="5355"/>
              </a:lnSpc>
            </a:pPr>
            <a:r>
              <a:rPr lang="en-US" sz="3825" u="none" dirty="0">
                <a:solidFill>
                  <a:srgbClr val="FFFFFF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Finding a Perfect Property Has Never Been Easier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DE6B105-D286-F926-07B6-92439A4CC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32391" y="346350"/>
            <a:ext cx="2276140" cy="1463233"/>
          </a:xfrm>
          <a:prstGeom prst="rect">
            <a:avLst/>
          </a:prstGeom>
        </p:spPr>
      </p:pic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9E76FC6-B50C-9F2A-F7FF-E118FD45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Dream Home Awaits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3" descr="added image">
            <a:extLst>
              <a:ext uri="{FF2B5EF4-FFF2-40B4-BE49-F238E27FC236}">
                <a16:creationId xmlns:a16="http://schemas.microsoft.com/office/drawing/2014/main" id="{2267A9AC-9262-3472-FAB2-95C9CF3BD25C}"/>
              </a:ext>
            </a:extLst>
          </p:cNvPr>
          <p:cNvSpPr/>
          <p:nvPr/>
        </p:nvSpPr>
        <p:spPr>
          <a:xfrm>
            <a:off x="14624217" y="-1"/>
            <a:ext cx="3663208" cy="10290827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reeform 3" descr="added image"/>
          <p:cNvSpPr/>
          <p:nvPr/>
        </p:nvSpPr>
        <p:spPr>
          <a:xfrm>
            <a:off x="9409580" y="2088776"/>
            <a:ext cx="7858125" cy="6115050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23D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157010" y="3198718"/>
            <a:ext cx="6367743" cy="1141269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7559"/>
              </a:lnSpc>
            </a:pPr>
            <a:r>
              <a:rPr lang="en-US" sz="5400" b="1" u="none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57901" y="4541183"/>
            <a:ext cx="6364382" cy="2705777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040"/>
              </a:lnSpc>
            </a:pPr>
            <a:r>
              <a:rPr lang="en-US" sz="3400" u="none" dirty="0">
                <a:solidFill>
                  <a:schemeClr val="bg1"/>
                </a:solidFill>
                <a:latin typeface="Arial"/>
                <a:ea typeface="Canva Sans Bold"/>
                <a:cs typeface="Arial"/>
                <a:sym typeface="Canva Sans Bold"/>
              </a:rPr>
              <a:t>At North Wind, </a:t>
            </a:r>
            <a:br>
              <a:rPr lang="en-US" sz="3400" u="none" dirty="0">
                <a:solidFill>
                  <a:schemeClr val="bg1"/>
                </a:solidFill>
                <a:latin typeface="Arial"/>
                <a:ea typeface="Canva Sans Bold"/>
                <a:cs typeface="Arial"/>
                <a:sym typeface="Canva Sans Bold"/>
              </a:rPr>
            </a:br>
            <a:r>
              <a:rPr lang="en-US" sz="3400" u="none" dirty="0">
                <a:solidFill>
                  <a:schemeClr val="bg1"/>
                </a:solidFill>
                <a:latin typeface="Arial"/>
                <a:ea typeface="Canva Sans Bold"/>
                <a:cs typeface="Arial"/>
                <a:sym typeface="Canva Sans Bold"/>
              </a:rPr>
              <a:t>we specialize in helping families, investors, and individuals find their dream properties.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2050" y="3650090"/>
            <a:ext cx="8551208" cy="341473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marL="457200" indent="-457200" algn="l">
              <a:lnSpc>
                <a:spcPct val="200000"/>
              </a:lnSpc>
              <a:buClr>
                <a:srgbClr val="3E5244"/>
              </a:buClr>
              <a:buFont typeface="Wingdings" panose="05000000000000000000" pitchFamily="2" charset="2"/>
              <a:buChar char="§"/>
            </a:pPr>
            <a:r>
              <a:rPr lang="en-US" sz="3400" u="none" dirty="0">
                <a:solidFill>
                  <a:srgbClr val="000000"/>
                </a:solidFill>
                <a:latin typeface="Arial"/>
                <a:ea typeface="Canva Sans Bold"/>
                <a:cs typeface="Arial"/>
                <a:sym typeface="Canva Sans Bold"/>
              </a:rPr>
              <a:t>Full-service real estate agency</a:t>
            </a:r>
            <a:endParaRPr lang="en-US" sz="3400" u="none" dirty="0">
              <a:solidFill>
                <a:srgbClr val="000000"/>
              </a:solidFill>
              <a:latin typeface="Arial"/>
              <a:ea typeface="Canva Sans Bold"/>
              <a:cs typeface="Arial"/>
            </a:endParaRPr>
          </a:p>
          <a:p>
            <a:pPr marL="457200" indent="-457200" algn="l">
              <a:lnSpc>
                <a:spcPct val="200000"/>
              </a:lnSpc>
              <a:buClr>
                <a:srgbClr val="3E5244"/>
              </a:buClr>
              <a:buFont typeface="Wingdings" panose="05000000000000000000" pitchFamily="2" charset="2"/>
              <a:buChar char="§"/>
            </a:pPr>
            <a:r>
              <a:rPr lang="en-US" sz="3400" dirty="0">
                <a:solidFill>
                  <a:srgbClr val="000000"/>
                </a:solidFill>
                <a:latin typeface="Arial"/>
                <a:ea typeface="Canva Sans Bold"/>
                <a:cs typeface="Arial"/>
                <a:sym typeface="Canva Sans Bold"/>
              </a:rPr>
              <a:t>Local market expertise</a:t>
            </a:r>
            <a:endParaRPr lang="en-US" sz="3400" dirty="0">
              <a:solidFill>
                <a:srgbClr val="000000"/>
              </a:solidFill>
              <a:latin typeface="Arial"/>
              <a:ea typeface="Canva Sans Bold"/>
              <a:cs typeface="Arial"/>
            </a:endParaRPr>
          </a:p>
          <a:p>
            <a:pPr marL="457200" indent="-457200" algn="l">
              <a:lnSpc>
                <a:spcPct val="200000"/>
              </a:lnSpc>
              <a:buClr>
                <a:srgbClr val="3E5244"/>
              </a:buClr>
              <a:buFont typeface="Wingdings" panose="05000000000000000000" pitchFamily="2" charset="2"/>
              <a:buChar char="§"/>
            </a:pPr>
            <a:r>
              <a:rPr lang="en-US" sz="3400" dirty="0">
                <a:solidFill>
                  <a:srgbClr val="000000"/>
                </a:solidFill>
                <a:latin typeface="Arial"/>
                <a:ea typeface="Canva Sans Bold"/>
                <a:cs typeface="Arial"/>
                <a:sym typeface="Canva Sans Bold"/>
              </a:rPr>
              <a:t>Residential &amp; commercial </a:t>
            </a:r>
            <a:endParaRPr lang="en-US" sz="3400" u="none" dirty="0">
              <a:solidFill>
                <a:srgbClr val="000000"/>
              </a:solidFill>
              <a:latin typeface="Arial"/>
              <a:ea typeface="Canva Sans Bold"/>
              <a:cs typeface="Arial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6947CFA-55E0-A3D8-6EA8-F6953008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6423D"/>
                </a:solidFill>
                <a:latin typeface="Arial"/>
                <a:cs typeface="Arial"/>
              </a:rPr>
              <a:t>Your Dream Home Awaits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D883-3F66-C297-DC14-329738458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 descr="added image">
            <a:extLst>
              <a:ext uri="{FF2B5EF4-FFF2-40B4-BE49-F238E27FC236}">
                <a16:creationId xmlns:a16="http://schemas.microsoft.com/office/drawing/2014/main" id="{AA2DF49F-7698-8D86-5B4E-9F9F1B30B695}"/>
              </a:ext>
            </a:extLst>
          </p:cNvPr>
          <p:cNvSpPr/>
          <p:nvPr/>
        </p:nvSpPr>
        <p:spPr>
          <a:xfrm>
            <a:off x="8950255" y="-1"/>
            <a:ext cx="9336440" cy="10291082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03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68DC03B-16EB-FFFB-62B1-977F985D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Your Dream Home Awaits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6424251-B416-3FC5-A8D4-35954587BDCE}"/>
              </a:ext>
            </a:extLst>
          </p:cNvPr>
          <p:cNvSpPr txBox="1"/>
          <p:nvPr/>
        </p:nvSpPr>
        <p:spPr>
          <a:xfrm>
            <a:off x="10144125" y="1709057"/>
            <a:ext cx="6000750" cy="1129677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8189"/>
              </a:lnSpc>
            </a:pPr>
            <a:r>
              <a:rPr lang="en-US" sz="5850" b="1" u="none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Our Services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EB471C3-BFA2-0B52-8487-2857EB53C059}"/>
              </a:ext>
            </a:extLst>
          </p:cNvPr>
          <p:cNvSpPr txBox="1"/>
          <p:nvPr/>
        </p:nvSpPr>
        <p:spPr>
          <a:xfrm>
            <a:off x="10141527" y="3228975"/>
            <a:ext cx="6610350" cy="1206547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90"/>
              </a:lnSpc>
            </a:pPr>
            <a:r>
              <a:rPr lang="en-US" sz="2800" u="none" dirty="0">
                <a:solidFill>
                  <a:srgbClr val="FFFFFF"/>
                </a:solidFill>
                <a:latin typeface="Arial"/>
                <a:ea typeface="Canva Sans"/>
                <a:cs typeface="Arial"/>
                <a:sym typeface="Canva Sans"/>
              </a:rPr>
              <a:t>We provide top-notch real estate services tailored to your needs.</a:t>
            </a:r>
            <a:endParaRPr lang="ru-RU" dirty="0">
              <a:cs typeface="Arial" panose="020B0604020202020204"/>
            </a:endParaRPr>
          </a:p>
        </p:txBody>
      </p:sp>
      <p:pic>
        <p:nvPicPr>
          <p:cNvPr id="13" name="Picture 12" descr="A floor plan of a house&#10;&#10;AI-generated content may be incorrect.">
            <a:extLst>
              <a:ext uri="{FF2B5EF4-FFF2-40B4-BE49-F238E27FC236}">
                <a16:creationId xmlns:a16="http://schemas.microsoft.com/office/drawing/2014/main" id="{226027F1-B358-60AA-318C-BE49BB49DB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6" r="30126" b="6"/>
          <a:stretch>
            <a:fillRect/>
          </a:stretch>
        </p:blipFill>
        <p:spPr>
          <a:xfrm>
            <a:off x="627847" y="802995"/>
            <a:ext cx="7571532" cy="868503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BA253483-7E6D-EE1E-161D-6C6553B443BF}"/>
              </a:ext>
            </a:extLst>
          </p:cNvPr>
          <p:cNvSpPr txBox="1"/>
          <p:nvPr/>
        </p:nvSpPr>
        <p:spPr>
          <a:xfrm>
            <a:off x="10132868" y="4780684"/>
            <a:ext cx="6953250" cy="3346558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Residential Sales and Rentals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Commercial Property Services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Property Management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Investment Advisory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/>
                <a:cs typeface="Arial"/>
              </a:rPr>
              <a:t>Legal and Financial Assistance</a:t>
            </a:r>
          </a:p>
        </p:txBody>
      </p:sp>
    </p:spTree>
    <p:extLst>
      <p:ext uri="{BB962C8B-B14F-4D97-AF65-F5344CB8AC3E}">
        <p14:creationId xmlns:p14="http://schemas.microsoft.com/office/powerpoint/2010/main" val="843136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67FFB-4F53-676A-E588-F9B4DA1D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 descr="added image">
            <a:extLst>
              <a:ext uri="{FF2B5EF4-FFF2-40B4-BE49-F238E27FC236}">
                <a16:creationId xmlns:a16="http://schemas.microsoft.com/office/drawing/2014/main" id="{E5A2C5C8-1B56-7756-488B-7A30835C99BA}"/>
              </a:ext>
            </a:extLst>
          </p:cNvPr>
          <p:cNvSpPr/>
          <p:nvPr/>
        </p:nvSpPr>
        <p:spPr>
          <a:xfrm>
            <a:off x="-19374" y="0"/>
            <a:ext cx="18307374" cy="3408767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23D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CAE356B-401B-7104-4757-A3521D995CF7}"/>
              </a:ext>
            </a:extLst>
          </p:cNvPr>
          <p:cNvSpPr txBox="1"/>
          <p:nvPr/>
        </p:nvSpPr>
        <p:spPr>
          <a:xfrm>
            <a:off x="4104384" y="1255532"/>
            <a:ext cx="8819911" cy="1078235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7559"/>
              </a:lnSpc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Why Choose North Wind?</a:t>
            </a:r>
            <a:endParaRPr lang="en-US" sz="5400" b="1" u="none" dirty="0">
              <a:solidFill>
                <a:srgbClr val="FFFFFF"/>
              </a:solidFill>
              <a:latin typeface="Arial" panose="020B0604020202020204" pitchFamily="34" charset="0"/>
              <a:ea typeface="Canva Sans Bold"/>
              <a:cs typeface="Arial" panose="020B0604020202020204" pitchFamily="34" charset="0"/>
              <a:sym typeface="Canva Sans Bold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A55F845-15D1-214F-C2BF-3BCC5EBA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6403C"/>
                </a:solidFill>
                <a:latin typeface="Arial"/>
                <a:cs typeface="Arial"/>
              </a:rPr>
              <a:t>Your Dream Home Awaits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2405F1-E506-5152-21CD-65FA821D1CF5}"/>
              </a:ext>
            </a:extLst>
          </p:cNvPr>
          <p:cNvGrpSpPr/>
          <p:nvPr/>
        </p:nvGrpSpPr>
        <p:grpSpPr>
          <a:xfrm>
            <a:off x="1390566" y="4615527"/>
            <a:ext cx="15468766" cy="2760329"/>
            <a:chOff x="1390566" y="4615527"/>
            <a:chExt cx="15468766" cy="2760329"/>
          </a:xfrm>
        </p:grpSpPr>
        <p:sp>
          <p:nvSpPr>
            <p:cNvPr id="28" name="Rectangle 27" descr="Share With Person">
              <a:extLst>
                <a:ext uri="{FF2B5EF4-FFF2-40B4-BE49-F238E27FC236}">
                  <a16:creationId xmlns:a16="http://schemas.microsoft.com/office/drawing/2014/main" id="{420CF9E7-446B-31D7-E854-1523196AEFA0}"/>
                </a:ext>
              </a:extLst>
            </p:cNvPr>
            <p:cNvSpPr/>
            <p:nvPr/>
          </p:nvSpPr>
          <p:spPr>
            <a:xfrm>
              <a:off x="2136866" y="4615527"/>
              <a:ext cx="1221218" cy="1221218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B909AFC-CBD8-D89C-09CB-318281FCD6E4}"/>
                </a:ext>
              </a:extLst>
            </p:cNvPr>
            <p:cNvSpPr/>
            <p:nvPr/>
          </p:nvSpPr>
          <p:spPr>
            <a:xfrm>
              <a:off x="1390566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Trusted by thousands of clients</a:t>
              </a:r>
            </a:p>
          </p:txBody>
        </p:sp>
        <p:sp>
          <p:nvSpPr>
            <p:cNvPr id="30" name="Rectangle 29" descr="Ribbon">
              <a:extLst>
                <a:ext uri="{FF2B5EF4-FFF2-40B4-BE49-F238E27FC236}">
                  <a16:creationId xmlns:a16="http://schemas.microsoft.com/office/drawing/2014/main" id="{132150D9-57DC-9452-0875-168A59212416}"/>
                </a:ext>
              </a:extLst>
            </p:cNvPr>
            <p:cNvSpPr/>
            <p:nvPr/>
          </p:nvSpPr>
          <p:spPr>
            <a:xfrm>
              <a:off x="5325603" y="4615527"/>
              <a:ext cx="1221218" cy="1221218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8EF6631-D19C-4B70-C41E-CE92B163C2CF}"/>
                </a:ext>
              </a:extLst>
            </p:cNvPr>
            <p:cNvSpPr/>
            <p:nvPr/>
          </p:nvSpPr>
          <p:spPr>
            <a:xfrm>
              <a:off x="4579303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Award-winning customer service</a:t>
              </a:r>
            </a:p>
          </p:txBody>
        </p:sp>
        <p:sp>
          <p:nvSpPr>
            <p:cNvPr id="32" name="Rectangle 31" descr="Handshake">
              <a:extLst>
                <a:ext uri="{FF2B5EF4-FFF2-40B4-BE49-F238E27FC236}">
                  <a16:creationId xmlns:a16="http://schemas.microsoft.com/office/drawing/2014/main" id="{7A1C0E2C-5169-821C-1D69-5E9BB805CB7E}"/>
                </a:ext>
              </a:extLst>
            </p:cNvPr>
            <p:cNvSpPr/>
            <p:nvPr/>
          </p:nvSpPr>
          <p:spPr>
            <a:xfrm>
              <a:off x="8514340" y="4615527"/>
              <a:ext cx="1221218" cy="1221218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0A5ED3F-9A6A-3AC5-ADEE-C0A934BDC2AF}"/>
                </a:ext>
              </a:extLst>
            </p:cNvPr>
            <p:cNvSpPr/>
            <p:nvPr/>
          </p:nvSpPr>
          <p:spPr>
            <a:xfrm>
              <a:off x="7768040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Strong negotiation skills</a:t>
              </a:r>
            </a:p>
          </p:txBody>
        </p:sp>
        <p:sp>
          <p:nvSpPr>
            <p:cNvPr id="34" name="Rectangle 33" descr="House">
              <a:extLst>
                <a:ext uri="{FF2B5EF4-FFF2-40B4-BE49-F238E27FC236}">
                  <a16:creationId xmlns:a16="http://schemas.microsoft.com/office/drawing/2014/main" id="{C21A74EB-820A-9C63-9C3A-B0167F2BE4AB}"/>
                </a:ext>
              </a:extLst>
            </p:cNvPr>
            <p:cNvSpPr/>
            <p:nvPr/>
          </p:nvSpPr>
          <p:spPr>
            <a:xfrm>
              <a:off x="11703077" y="4615527"/>
              <a:ext cx="1221218" cy="1221218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D69B336-0BAD-2A6D-487B-C9121694B0B1}"/>
                </a:ext>
              </a:extLst>
            </p:cNvPr>
            <p:cNvSpPr/>
            <p:nvPr/>
          </p:nvSpPr>
          <p:spPr>
            <a:xfrm>
              <a:off x="10956777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Extensive property listings</a:t>
              </a:r>
            </a:p>
          </p:txBody>
        </p:sp>
        <p:sp>
          <p:nvSpPr>
            <p:cNvPr id="36" name="Rectangle 35" descr="Scales of Justice">
              <a:extLst>
                <a:ext uri="{FF2B5EF4-FFF2-40B4-BE49-F238E27FC236}">
                  <a16:creationId xmlns:a16="http://schemas.microsoft.com/office/drawing/2014/main" id="{5011FCD5-E322-7159-1D33-663D110664BB}"/>
                </a:ext>
              </a:extLst>
            </p:cNvPr>
            <p:cNvSpPr/>
            <p:nvPr/>
          </p:nvSpPr>
          <p:spPr>
            <a:xfrm>
              <a:off x="14891814" y="4615527"/>
              <a:ext cx="1221218" cy="1221218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0F6CAE9-BE40-99F3-AC0A-7029D411BFEF}"/>
                </a:ext>
              </a:extLst>
            </p:cNvPr>
            <p:cNvSpPr/>
            <p:nvPr/>
          </p:nvSpPr>
          <p:spPr>
            <a:xfrm>
              <a:off x="14145514" y="6250856"/>
              <a:ext cx="2713818" cy="1125000"/>
            </a:xfrm>
            <a:custGeom>
              <a:avLst/>
              <a:gdLst>
                <a:gd name="connsiteX0" fmla="*/ 0 w 2713818"/>
                <a:gd name="connsiteY0" fmla="*/ 0 h 1125000"/>
                <a:gd name="connsiteX1" fmla="*/ 2713818 w 2713818"/>
                <a:gd name="connsiteY1" fmla="*/ 0 h 1125000"/>
                <a:gd name="connsiteX2" fmla="*/ 2713818 w 2713818"/>
                <a:gd name="connsiteY2" fmla="*/ 1125000 h 1125000"/>
                <a:gd name="connsiteX3" fmla="*/ 0 w 2713818"/>
                <a:gd name="connsiteY3" fmla="*/ 1125000 h 1125000"/>
                <a:gd name="connsiteX4" fmla="*/ 0 w 2713818"/>
                <a:gd name="connsiteY4" fmla="*/ 0 h 112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3818" h="1125000">
                  <a:moveTo>
                    <a:pt x="0" y="0"/>
                  </a:moveTo>
                  <a:lnTo>
                    <a:pt x="2713818" y="0"/>
                  </a:lnTo>
                  <a:lnTo>
                    <a:pt x="2713818" y="1125000"/>
                  </a:lnTo>
                  <a:lnTo>
                    <a:pt x="0" y="112500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Transparent and ethical practices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520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4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 descr="added image">
            <a:extLst>
              <a:ext uri="{FF2B5EF4-FFF2-40B4-BE49-F238E27FC236}">
                <a16:creationId xmlns:a16="http://schemas.microsoft.com/office/drawing/2014/main" id="{345B9B6B-2F42-D528-6468-E8B865DAFD3B}"/>
              </a:ext>
            </a:extLst>
          </p:cNvPr>
          <p:cNvSpPr/>
          <p:nvPr/>
        </p:nvSpPr>
        <p:spPr>
          <a:xfrm>
            <a:off x="-11210" y="0"/>
            <a:ext cx="18299210" cy="1914705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23D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10800" y="466506"/>
            <a:ext cx="7496175" cy="1125152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ts val="8189"/>
              </a:lnSpc>
            </a:pPr>
            <a:r>
              <a:rPr lang="en-US" sz="5850" b="1" dirty="0">
                <a:solidFill>
                  <a:srgbClr val="FFFFFF"/>
                </a:solidFill>
                <a:latin typeface="Arial"/>
                <a:ea typeface="Canva Sans Bold"/>
                <a:cs typeface="Arial"/>
                <a:sym typeface="Canva Sans Bold"/>
              </a:rPr>
              <a:t>Featured Properties</a:t>
            </a:r>
            <a:endParaRPr lang="en-US" sz="5850" b="1" u="none" dirty="0">
              <a:solidFill>
                <a:srgbClr val="FFFFFF"/>
              </a:solidFill>
              <a:latin typeface="Arial"/>
              <a:ea typeface="Canva Sans Bold"/>
              <a:cs typeface="Arial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4FD38-CE0B-5966-C896-EAD7D7220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6403C"/>
                </a:solidFill>
                <a:latin typeface="Arial"/>
                <a:cs typeface="Arial"/>
              </a:rPr>
              <a:t>Your Dream Home Awaits</a:t>
            </a:r>
          </a:p>
        </p:txBody>
      </p:sp>
      <p:pic>
        <p:nvPicPr>
          <p:cNvPr id="10" name="Рисунок 9" descr="A large brick house with a driveway&#10;&#10;AI-generated content may be incorrect.">
            <a:extLst>
              <a:ext uri="{FF2B5EF4-FFF2-40B4-BE49-F238E27FC236}">
                <a16:creationId xmlns:a16="http://schemas.microsoft.com/office/drawing/2014/main" id="{0E80F264-4635-BDBC-42D4-04B3C65DB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46" y="2192111"/>
            <a:ext cx="5715000" cy="3810000"/>
          </a:xfrm>
          <a:prstGeom prst="rect">
            <a:avLst/>
          </a:prstGeom>
        </p:spPr>
      </p:pic>
      <p:pic>
        <p:nvPicPr>
          <p:cNvPr id="11" name="Рисунок 10" descr="A white house with a lawn and trees&#10;&#10;AI-generated content may be incorrect.">
            <a:extLst>
              <a:ext uri="{FF2B5EF4-FFF2-40B4-BE49-F238E27FC236}">
                <a16:creationId xmlns:a16="http://schemas.microsoft.com/office/drawing/2014/main" id="{56E4F362-2AB0-9D79-69CF-667CB2FD1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36" y="2188029"/>
            <a:ext cx="5715000" cy="3810000"/>
          </a:xfrm>
          <a:prstGeom prst="rect">
            <a:avLst/>
          </a:prstGeom>
        </p:spPr>
      </p:pic>
      <p:pic>
        <p:nvPicPr>
          <p:cNvPr id="12" name="Рисунок 11" descr="A house with a driveway and lawn&#10;&#10;AI-generated content may be incorrect.">
            <a:extLst>
              <a:ext uri="{FF2B5EF4-FFF2-40B4-BE49-F238E27FC236}">
                <a16:creationId xmlns:a16="http://schemas.microsoft.com/office/drawing/2014/main" id="{9F3AC12A-3544-3B07-8875-18F899406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9497" y="2183946"/>
            <a:ext cx="5715000" cy="38100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745CEC-9D22-4E60-83CB-0434ABD9B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633427"/>
              </p:ext>
            </p:extLst>
          </p:nvPr>
        </p:nvGraphicFramePr>
        <p:xfrm>
          <a:off x="249010" y="5993946"/>
          <a:ext cx="17773651" cy="28468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26001">
                  <a:extLst>
                    <a:ext uri="{9D8B030D-6E8A-4147-A177-3AD203B41FA5}">
                      <a16:colId xmlns:a16="http://schemas.microsoft.com/office/drawing/2014/main" val="3934882373"/>
                    </a:ext>
                  </a:extLst>
                </a:gridCol>
                <a:gridCol w="325465">
                  <a:extLst>
                    <a:ext uri="{9D8B030D-6E8A-4147-A177-3AD203B41FA5}">
                      <a16:colId xmlns:a16="http://schemas.microsoft.com/office/drawing/2014/main" val="3123183039"/>
                    </a:ext>
                  </a:extLst>
                </a:gridCol>
                <a:gridCol w="5718874">
                  <a:extLst>
                    <a:ext uri="{9D8B030D-6E8A-4147-A177-3AD203B41FA5}">
                      <a16:colId xmlns:a16="http://schemas.microsoft.com/office/drawing/2014/main" val="655308539"/>
                    </a:ext>
                  </a:extLst>
                </a:gridCol>
                <a:gridCol w="294468">
                  <a:extLst>
                    <a:ext uri="{9D8B030D-6E8A-4147-A177-3AD203B41FA5}">
                      <a16:colId xmlns:a16="http://schemas.microsoft.com/office/drawing/2014/main" val="4040201616"/>
                    </a:ext>
                  </a:extLst>
                </a:gridCol>
                <a:gridCol w="5708843">
                  <a:extLst>
                    <a:ext uri="{9D8B030D-6E8A-4147-A177-3AD203B41FA5}">
                      <a16:colId xmlns:a16="http://schemas.microsoft.com/office/drawing/2014/main" val="4010631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Elegant Brick Colonial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Modern Garden Retreat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 panose="020B0604020202020204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Stylish Family Residence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extLst>
                  <a:ext uri="{0D108BD9-81ED-4DB2-BD59-A6C34878D82A}">
                    <a16:rowId xmlns:a16="http://schemas.microsoft.com/office/drawing/2014/main" val="59008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4 Bed, 3 Bath, 2-Car Garage, Landscaped Front Yard</a:t>
                      </a:r>
                      <a:endParaRPr kumimoji="0" lang="en-US" sz="22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Spacious family home with a classic look, formal entry, and built-in playground.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3 Bed, 2.5 Bath, Floor-to-Ceiling Windows, Private Backyard</a:t>
                      </a:r>
                      <a:endParaRPr kumimoji="0" lang="en-US" sz="22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Contemporary design with open layout, </a:t>
                      </a:r>
                      <a:b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</a:br>
                      <a: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full of light and outdoor views.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4 Beds, 2.5 Bath, Attached Garage, Private Drive</a:t>
                      </a:r>
                      <a:endParaRPr kumimoji="0" lang="en-US" sz="22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sym typeface="Canva Sans"/>
                        </a:rPr>
                        <a:t>Bright colonial-style home with brickwork and a welcoming front entry.</a:t>
                      </a:r>
                      <a:endParaRPr kumimoji="0" lang="en-US" sz="22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Canva Sans"/>
                        <a:cs typeface="Canva Sans"/>
                      </a:endParaRPr>
                    </a:p>
                  </a:txBody>
                  <a:tcPr marL="0" marR="0" marB="137160"/>
                </a:tc>
                <a:extLst>
                  <a:ext uri="{0D108BD9-81ED-4DB2-BD59-A6C34878D82A}">
                    <a16:rowId xmlns:a16="http://schemas.microsoft.com/office/drawing/2014/main" val="39236219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8837" y="866125"/>
            <a:ext cx="10453590" cy="1153744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875"/>
              </a:lnSpc>
            </a:pPr>
            <a:r>
              <a:rPr lang="en-US" sz="5600" b="1" u="none" dirty="0">
                <a:solidFill>
                  <a:srgbClr val="FFFFFF"/>
                </a:solidFill>
                <a:latin typeface="+mj-lt"/>
                <a:ea typeface="Canva Sans Bold"/>
                <a:cs typeface="Canva Sans Bold"/>
                <a:sym typeface="Canva Sans Bold"/>
              </a:rPr>
              <a:t>Meet Our Agents</a:t>
            </a:r>
            <a:endParaRPr lang="ru-RU" sz="5600" dirty="0"/>
          </a:p>
        </p:txBody>
      </p:sp>
      <p:sp>
        <p:nvSpPr>
          <p:cNvPr id="3" name="TextBox 3"/>
          <p:cNvSpPr txBox="1"/>
          <p:nvPr/>
        </p:nvSpPr>
        <p:spPr>
          <a:xfrm>
            <a:off x="6057131" y="6104494"/>
            <a:ext cx="8657572" cy="2205163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90"/>
              </a:lnSpc>
            </a:pPr>
            <a:r>
              <a:rPr lang="en-US" sz="2800" b="1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Jane Doe </a:t>
            </a:r>
            <a:endParaRPr lang="ru-RU" sz="2800" b="1" dirty="0">
              <a:cs typeface="Arial"/>
            </a:endParaRPr>
          </a:p>
          <a:p>
            <a:pPr>
              <a:lnSpc>
                <a:spcPts val="3990"/>
              </a:lnSpc>
            </a:pP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Residential </a:t>
            </a:r>
            <a:r>
              <a:rPr lang="en-US" sz="2400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property specialist</a:t>
            </a: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 with 10 years of experience. </a:t>
            </a:r>
            <a:endParaRPr lang="en-US" sz="2400" dirty="0">
              <a:cs typeface="Arial"/>
            </a:endParaRPr>
          </a:p>
          <a:p>
            <a:pPr algn="l">
              <a:lnSpc>
                <a:spcPts val="3990"/>
              </a:lnSpc>
            </a:pP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1-206-555-1418</a:t>
            </a:r>
            <a:endParaRPr lang="en-US" sz="2400" u="none" dirty="0">
              <a:solidFill>
                <a:srgbClr val="FFFFFF"/>
              </a:solidFill>
              <a:latin typeface="+mj-lt"/>
              <a:ea typeface="Canva Sans"/>
              <a:cs typeface="Canva Sans"/>
            </a:endParaRPr>
          </a:p>
          <a:p>
            <a:pPr algn="l">
              <a:lnSpc>
                <a:spcPts val="3990"/>
              </a:lnSpc>
            </a:pPr>
            <a:r>
              <a:rPr lang="en-US" sz="2400" u="none" dirty="0" err="1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jane.doe@northwind.real</a:t>
            </a:r>
            <a:endParaRPr lang="en-US" sz="2400" u="none" dirty="0">
              <a:solidFill>
                <a:srgbClr val="FFFFFF"/>
              </a:solidFill>
              <a:latin typeface="+mj-lt"/>
              <a:ea typeface="Canva Sans"/>
              <a:cs typeface="Canva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83B9BB-5609-08BC-FC1B-1E40018C4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" b="3138"/>
          <a:stretch/>
        </p:blipFill>
        <p:spPr>
          <a:xfrm>
            <a:off x="3018820" y="5898260"/>
            <a:ext cx="2273309" cy="2417741"/>
          </a:xfrm>
          <a:prstGeom prst="ellipse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056468" y="2870302"/>
            <a:ext cx="8626258" cy="2205163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990"/>
              </a:lnSpc>
            </a:pPr>
            <a:r>
              <a:rPr lang="en-US" sz="2800" b="1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John </a:t>
            </a:r>
            <a:r>
              <a:rPr lang="en-US" sz="2800" b="1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Doe</a:t>
            </a:r>
            <a:r>
              <a:rPr lang="en-US" sz="2800" b="1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 </a:t>
            </a:r>
            <a:endParaRPr lang="ru-RU" sz="2800" b="1" dirty="0">
              <a:cs typeface="Arial"/>
            </a:endParaRPr>
          </a:p>
          <a:p>
            <a:pPr>
              <a:lnSpc>
                <a:spcPts val="3990"/>
              </a:lnSpc>
            </a:pP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Expert in commercial real estate and </a:t>
            </a:r>
            <a:r>
              <a:rPr lang="en-US" sz="2400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investment opportunities</a:t>
            </a: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. </a:t>
            </a:r>
            <a:endParaRPr lang="en-US" sz="2400" dirty="0">
              <a:cs typeface="Arial"/>
            </a:endParaRPr>
          </a:p>
          <a:p>
            <a:pPr algn="l">
              <a:lnSpc>
                <a:spcPts val="3990"/>
              </a:lnSpc>
            </a:pPr>
            <a:r>
              <a:rPr lang="en-US" sz="2400" u="none" dirty="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1-206-555-1417</a:t>
            </a:r>
            <a:endParaRPr lang="en-US" sz="2400" u="none" dirty="0">
              <a:solidFill>
                <a:srgbClr val="FFFFFF"/>
              </a:solidFill>
              <a:latin typeface="+mj-lt"/>
              <a:ea typeface="Canva Sans"/>
              <a:cs typeface="Canva Sans"/>
            </a:endParaRPr>
          </a:p>
          <a:p>
            <a:pPr algn="l">
              <a:lnSpc>
                <a:spcPts val="3990"/>
              </a:lnSpc>
            </a:pPr>
            <a:r>
              <a:rPr lang="en-US" sz="2400" u="none" dirty="0" err="1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john.doe@northwind.real</a:t>
            </a:r>
            <a:endParaRPr lang="en-US" sz="2400" u="none" dirty="0">
              <a:solidFill>
                <a:srgbClr val="FFFFFF"/>
              </a:solidFill>
              <a:latin typeface="+mj-lt"/>
              <a:ea typeface="Canva Sans"/>
              <a:cs typeface="Canva San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A6524-EB4B-1EB9-9167-577D2A8D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Your Dream Home Awaits</a:t>
            </a:r>
          </a:p>
        </p:txBody>
      </p:sp>
      <p:pic>
        <p:nvPicPr>
          <p:cNvPr id="18" name="Picture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2A82CC4-ADFE-4A96-C4E8-3A74A6A1D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324" y="2660555"/>
            <a:ext cx="2254303" cy="241491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 descr="added image">
            <a:extLst>
              <a:ext uri="{FF2B5EF4-FFF2-40B4-BE49-F238E27FC236}">
                <a16:creationId xmlns:a16="http://schemas.microsoft.com/office/drawing/2014/main" id="{5A3539F9-CB27-AE35-A9A9-FE836E75A0D3}"/>
              </a:ext>
            </a:extLst>
          </p:cNvPr>
          <p:cNvSpPr/>
          <p:nvPr/>
        </p:nvSpPr>
        <p:spPr>
          <a:xfrm>
            <a:off x="14624217" y="-1"/>
            <a:ext cx="3663208" cy="10290827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reeform 3" descr="added image">
            <a:extLst>
              <a:ext uri="{FF2B5EF4-FFF2-40B4-BE49-F238E27FC236}">
                <a16:creationId xmlns:a16="http://schemas.microsoft.com/office/drawing/2014/main" id="{A2348C90-797A-CCF9-6EEB-97A6C02B8EB4}"/>
              </a:ext>
            </a:extLst>
          </p:cNvPr>
          <p:cNvSpPr/>
          <p:nvPr/>
        </p:nvSpPr>
        <p:spPr>
          <a:xfrm>
            <a:off x="1276287" y="1483998"/>
            <a:ext cx="15739539" cy="7323150"/>
          </a:xfrm>
          <a:custGeom>
            <a:avLst/>
            <a:gdLst/>
            <a:ahLst/>
            <a:cxnLst/>
            <a:rect l="l" t="t" r="r" b="b"/>
            <a:pathLst>
              <a:path w="7858125" h="6115050">
                <a:moveTo>
                  <a:pt x="0" y="0"/>
                </a:moveTo>
                <a:lnTo>
                  <a:pt x="7858125" y="0"/>
                </a:lnTo>
                <a:lnTo>
                  <a:pt x="7858125" y="6115050"/>
                </a:lnTo>
                <a:lnTo>
                  <a:pt x="0" y="6115050"/>
                </a:lnTo>
                <a:lnTo>
                  <a:pt x="0" y="0"/>
                </a:lnTo>
                <a:close/>
              </a:path>
            </a:pathLst>
          </a:custGeom>
          <a:solidFill>
            <a:srgbClr val="26423D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173829" y="2240241"/>
            <a:ext cx="6000750" cy="1035221"/>
          </a:xfrm>
          <a:prstGeom prst="rect">
            <a:avLst/>
          </a:prstGeom>
        </p:spPr>
        <p:txBody>
          <a:bodyPr lIns="0" tIns="0" rIns="0" bIns="0" rtlCol="0" anchor="t">
            <a:normAutofit/>
          </a:bodyPr>
          <a:lstStyle/>
          <a:p>
            <a:pPr algn="l">
              <a:lnSpc>
                <a:spcPts val="7559"/>
              </a:lnSpc>
            </a:pPr>
            <a:r>
              <a:rPr lang="en-US" sz="5400" b="1" u="none" dirty="0">
                <a:solidFill>
                  <a:srgbClr val="FFFFFF"/>
                </a:solidFill>
                <a:latin typeface="+mj-lt"/>
                <a:ea typeface="Canva Sans Bold"/>
                <a:cs typeface="Canva Sans Bold"/>
                <a:sym typeface="Canva Sans Bold"/>
              </a:rPr>
              <a:t>Contact Us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BA1763-4A6F-D58F-8933-56320DE400FB}"/>
              </a:ext>
            </a:extLst>
          </p:cNvPr>
          <p:cNvGrpSpPr/>
          <p:nvPr/>
        </p:nvGrpSpPr>
        <p:grpSpPr>
          <a:xfrm>
            <a:off x="4172284" y="3660757"/>
            <a:ext cx="9939838" cy="3743264"/>
            <a:chOff x="1726155" y="2892077"/>
            <a:chExt cx="9939838" cy="374326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D0ED494-89D3-6A3A-69F8-F029A8BB7D11}"/>
                </a:ext>
              </a:extLst>
            </p:cNvPr>
            <p:cNvSpPr/>
            <p:nvPr/>
          </p:nvSpPr>
          <p:spPr>
            <a:xfrm>
              <a:off x="1726155" y="2892077"/>
              <a:ext cx="1315912" cy="1315912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 descr="City">
              <a:extLst>
                <a:ext uri="{FF2B5EF4-FFF2-40B4-BE49-F238E27FC236}">
                  <a16:creationId xmlns:a16="http://schemas.microsoft.com/office/drawing/2014/main" id="{96A7A3A8-371B-0598-C727-AF95C46F7CA2}"/>
                </a:ext>
              </a:extLst>
            </p:cNvPr>
            <p:cNvSpPr/>
            <p:nvPr/>
          </p:nvSpPr>
          <p:spPr>
            <a:xfrm>
              <a:off x="2002497" y="3168419"/>
              <a:ext cx="763229" cy="763229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138C170-3D3D-AB2C-0425-D22C95669D58}"/>
                </a:ext>
              </a:extLst>
            </p:cNvPr>
            <p:cNvSpPr/>
            <p:nvPr/>
          </p:nvSpPr>
          <p:spPr>
            <a:xfrm>
              <a:off x="3324049" y="2892077"/>
              <a:ext cx="3101793" cy="1315912"/>
            </a:xfrm>
            <a:custGeom>
              <a:avLst/>
              <a:gdLst>
                <a:gd name="connsiteX0" fmla="*/ 0 w 3101793"/>
                <a:gd name="connsiteY0" fmla="*/ 0 h 1315912"/>
                <a:gd name="connsiteX1" fmla="*/ 3101793 w 3101793"/>
                <a:gd name="connsiteY1" fmla="*/ 0 h 1315912"/>
                <a:gd name="connsiteX2" fmla="*/ 3101793 w 3101793"/>
                <a:gd name="connsiteY2" fmla="*/ 1315912 h 1315912"/>
                <a:gd name="connsiteX3" fmla="*/ 0 w 3101793"/>
                <a:gd name="connsiteY3" fmla="*/ 1315912 h 1315912"/>
                <a:gd name="connsiteX4" fmla="*/ 0 w 3101793"/>
                <a:gd name="connsiteY4" fmla="*/ 0 h 131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793" h="1315912">
                  <a:moveTo>
                    <a:pt x="0" y="0"/>
                  </a:moveTo>
                  <a:lnTo>
                    <a:pt x="3101793" y="0"/>
                  </a:lnTo>
                  <a:lnTo>
                    <a:pt x="3101793" y="1315912"/>
                  </a:lnTo>
                  <a:lnTo>
                    <a:pt x="0" y="131591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One Unk</a:t>
              </a:r>
              <a:r>
                <a:rPr lang="en-US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n</a:t>
              </a:r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own Way, </a:t>
              </a:r>
            </a:p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Twin Points WA, 98156	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F0F2A9E-2CFF-5158-5F93-CCAF2ADE33C5}"/>
                </a:ext>
              </a:extLst>
            </p:cNvPr>
            <p:cNvSpPr/>
            <p:nvPr/>
          </p:nvSpPr>
          <p:spPr>
            <a:xfrm>
              <a:off x="6966307" y="2892077"/>
              <a:ext cx="1315912" cy="1315912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 descr="Receiver">
              <a:extLst>
                <a:ext uri="{FF2B5EF4-FFF2-40B4-BE49-F238E27FC236}">
                  <a16:creationId xmlns:a16="http://schemas.microsoft.com/office/drawing/2014/main" id="{16D337D5-FC1E-4E02-FBFA-FA3ABF6DFC77}"/>
                </a:ext>
              </a:extLst>
            </p:cNvPr>
            <p:cNvSpPr/>
            <p:nvPr/>
          </p:nvSpPr>
          <p:spPr>
            <a:xfrm>
              <a:off x="7242648" y="3168419"/>
              <a:ext cx="763229" cy="763229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BE01A5F-EDB0-3C43-8395-2248B1AF9E07}"/>
                </a:ext>
              </a:extLst>
            </p:cNvPr>
            <p:cNvSpPr/>
            <p:nvPr/>
          </p:nvSpPr>
          <p:spPr>
            <a:xfrm>
              <a:off x="8564200" y="2892077"/>
              <a:ext cx="3101793" cy="1315912"/>
            </a:xfrm>
            <a:custGeom>
              <a:avLst/>
              <a:gdLst>
                <a:gd name="connsiteX0" fmla="*/ 0 w 3101793"/>
                <a:gd name="connsiteY0" fmla="*/ 0 h 1315912"/>
                <a:gd name="connsiteX1" fmla="*/ 3101793 w 3101793"/>
                <a:gd name="connsiteY1" fmla="*/ 0 h 1315912"/>
                <a:gd name="connsiteX2" fmla="*/ 3101793 w 3101793"/>
                <a:gd name="connsiteY2" fmla="*/ 1315912 h 1315912"/>
                <a:gd name="connsiteX3" fmla="*/ 0 w 3101793"/>
                <a:gd name="connsiteY3" fmla="*/ 1315912 h 1315912"/>
                <a:gd name="connsiteX4" fmla="*/ 0 w 3101793"/>
                <a:gd name="connsiteY4" fmla="*/ 0 h 131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793" h="1315912">
                  <a:moveTo>
                    <a:pt x="0" y="0"/>
                  </a:moveTo>
                  <a:lnTo>
                    <a:pt x="3101793" y="0"/>
                  </a:lnTo>
                  <a:lnTo>
                    <a:pt x="3101793" y="1315912"/>
                  </a:lnTo>
                  <a:lnTo>
                    <a:pt x="0" y="131591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defTabSz="889000"/>
              <a:r>
                <a:rPr lang="en-US" sz="2000" b="1" kern="1200" dirty="0">
                  <a:solidFill>
                    <a:schemeClr val="bg1"/>
                  </a:solidFill>
                </a:rPr>
                <a:t>Phone: </a:t>
              </a:r>
              <a:endParaRPr lang="ru-RU" dirty="0">
                <a:solidFill>
                  <a:schemeClr val="bg1"/>
                </a:solidFill>
                <a:cs typeface="Arial" panose="020B0604020202020204"/>
              </a:endParaRPr>
            </a:p>
            <a:p>
              <a:pPr defTabSz="889000"/>
              <a:r>
                <a:rPr lang="en-US" sz="2000" kern="1200" dirty="0">
                  <a:solidFill>
                    <a:schemeClr val="bg1"/>
                  </a:solidFill>
                </a:rPr>
                <a:t>1-206-555-1417</a:t>
              </a:r>
              <a:endParaRPr lang="en-US" dirty="0">
                <a:solidFill>
                  <a:schemeClr val="bg1"/>
                </a:solidFill>
                <a:cs typeface="Arial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FB48DA1-92E3-D547-D36B-885060DD1886}"/>
                </a:ext>
              </a:extLst>
            </p:cNvPr>
            <p:cNvSpPr/>
            <p:nvPr/>
          </p:nvSpPr>
          <p:spPr>
            <a:xfrm>
              <a:off x="1726155" y="5319429"/>
              <a:ext cx="1315912" cy="1315912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 descr="Send">
              <a:extLst>
                <a:ext uri="{FF2B5EF4-FFF2-40B4-BE49-F238E27FC236}">
                  <a16:creationId xmlns:a16="http://schemas.microsoft.com/office/drawing/2014/main" id="{7D8F0336-93C7-E0A9-04B8-65050F042AB8}"/>
                </a:ext>
              </a:extLst>
            </p:cNvPr>
            <p:cNvSpPr/>
            <p:nvPr/>
          </p:nvSpPr>
          <p:spPr>
            <a:xfrm>
              <a:off x="2002497" y="5595771"/>
              <a:ext cx="763229" cy="763229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81977CD-EA9C-5248-64C1-210EE03EC6BB}"/>
                </a:ext>
              </a:extLst>
            </p:cNvPr>
            <p:cNvSpPr/>
            <p:nvPr/>
          </p:nvSpPr>
          <p:spPr>
            <a:xfrm>
              <a:off x="3324049" y="5319429"/>
              <a:ext cx="3101793" cy="1315912"/>
            </a:xfrm>
            <a:custGeom>
              <a:avLst/>
              <a:gdLst>
                <a:gd name="connsiteX0" fmla="*/ 0 w 3101793"/>
                <a:gd name="connsiteY0" fmla="*/ 0 h 1315912"/>
                <a:gd name="connsiteX1" fmla="*/ 3101793 w 3101793"/>
                <a:gd name="connsiteY1" fmla="*/ 0 h 1315912"/>
                <a:gd name="connsiteX2" fmla="*/ 3101793 w 3101793"/>
                <a:gd name="connsiteY2" fmla="*/ 1315912 h 1315912"/>
                <a:gd name="connsiteX3" fmla="*/ 0 w 3101793"/>
                <a:gd name="connsiteY3" fmla="*/ 1315912 h 1315912"/>
                <a:gd name="connsiteX4" fmla="*/ 0 w 3101793"/>
                <a:gd name="connsiteY4" fmla="*/ 0 h 131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793" h="1315912">
                  <a:moveTo>
                    <a:pt x="0" y="0"/>
                  </a:moveTo>
                  <a:lnTo>
                    <a:pt x="3101793" y="0"/>
                  </a:lnTo>
                  <a:lnTo>
                    <a:pt x="3101793" y="1315912"/>
                  </a:lnTo>
                  <a:lnTo>
                    <a:pt x="0" y="131591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bg1"/>
                  </a:solidFill>
                </a:rPr>
                <a:t>Email: </a:t>
              </a:r>
              <a:r>
                <a:rPr lang="en-US" sz="2000" kern="1200" dirty="0" err="1">
                  <a:solidFill>
                    <a:schemeClr val="bg1"/>
                  </a:solidFill>
                </a:rPr>
                <a:t>contact@</a:t>
              </a:r>
              <a:r>
                <a:rPr lang="en-US" sz="2000" dirty="0" err="1">
                  <a:solidFill>
                    <a:schemeClr val="bg1"/>
                  </a:solidFill>
                </a:rPr>
                <a:t>northwind</a:t>
              </a:r>
              <a:r>
                <a:rPr lang="en-US" sz="2000" kern="1200" dirty="0" err="1">
                  <a:solidFill>
                    <a:schemeClr val="bg1"/>
                  </a:solidFill>
                </a:rPr>
                <a:t>.real</a:t>
              </a:r>
              <a:endParaRPr lang="en-US" sz="2000" kern="1200" dirty="0">
                <a:solidFill>
                  <a:schemeClr val="bg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14BF299-2FB3-6C33-FA29-5A8F1414055E}"/>
                </a:ext>
              </a:extLst>
            </p:cNvPr>
            <p:cNvSpPr/>
            <p:nvPr/>
          </p:nvSpPr>
          <p:spPr>
            <a:xfrm>
              <a:off x="6966307" y="5319429"/>
              <a:ext cx="1315912" cy="1315912"/>
            </a:xfrm>
            <a:prstGeom prst="ellipse">
              <a:avLst/>
            </a:prstGeom>
            <a:solidFill>
              <a:srgbClr val="E4E4E4"/>
            </a:solidFill>
            <a:ln>
              <a:noFill/>
            </a:ln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1" descr="Monitor">
              <a:extLst>
                <a:ext uri="{FF2B5EF4-FFF2-40B4-BE49-F238E27FC236}">
                  <a16:creationId xmlns:a16="http://schemas.microsoft.com/office/drawing/2014/main" id="{90D3BD4E-12CE-7EFC-F9E9-0A257E543B5A}"/>
                </a:ext>
              </a:extLst>
            </p:cNvPr>
            <p:cNvSpPr/>
            <p:nvPr/>
          </p:nvSpPr>
          <p:spPr>
            <a:xfrm>
              <a:off x="7242648" y="5595771"/>
              <a:ext cx="763229" cy="763229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D750E2-4B3E-0590-83C2-4588318058F7}"/>
                </a:ext>
              </a:extLst>
            </p:cNvPr>
            <p:cNvSpPr/>
            <p:nvPr/>
          </p:nvSpPr>
          <p:spPr>
            <a:xfrm>
              <a:off x="8564200" y="5319429"/>
              <a:ext cx="3101793" cy="1315912"/>
            </a:xfrm>
            <a:custGeom>
              <a:avLst/>
              <a:gdLst>
                <a:gd name="connsiteX0" fmla="*/ 0 w 3101793"/>
                <a:gd name="connsiteY0" fmla="*/ 0 h 1315912"/>
                <a:gd name="connsiteX1" fmla="*/ 3101793 w 3101793"/>
                <a:gd name="connsiteY1" fmla="*/ 0 h 1315912"/>
                <a:gd name="connsiteX2" fmla="*/ 3101793 w 3101793"/>
                <a:gd name="connsiteY2" fmla="*/ 1315912 h 1315912"/>
                <a:gd name="connsiteX3" fmla="*/ 0 w 3101793"/>
                <a:gd name="connsiteY3" fmla="*/ 1315912 h 1315912"/>
                <a:gd name="connsiteX4" fmla="*/ 0 w 3101793"/>
                <a:gd name="connsiteY4" fmla="*/ 0 h 131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793" h="1315912">
                  <a:moveTo>
                    <a:pt x="0" y="0"/>
                  </a:moveTo>
                  <a:lnTo>
                    <a:pt x="3101793" y="0"/>
                  </a:lnTo>
                  <a:lnTo>
                    <a:pt x="3101793" y="1315912"/>
                  </a:lnTo>
                  <a:lnTo>
                    <a:pt x="0" y="1315912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bg1"/>
                  </a:solidFill>
                </a:rPr>
                <a:t>Website:</a:t>
              </a:r>
              <a:r>
                <a:rPr lang="en-US" sz="2000" kern="1200" dirty="0">
                  <a:solidFill>
                    <a:schemeClr val="bg1"/>
                  </a:solidFill>
                </a:rPr>
                <a:t> www.northwind.real</a:t>
              </a:r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D76D68C-2122-2E58-7705-CAFDD15B9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26403C"/>
                </a:solidFill>
                <a:latin typeface="Arial"/>
                <a:cs typeface="Arial"/>
              </a:rPr>
              <a:t>Your Dream Home Awaits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2A4F1C"/>
      </a:accent1>
      <a:accent2>
        <a:srgbClr val="678A26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962946-6961-4e21-9ebb-cad52190cc2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DBFD1EB3810349A9B4BCA85631D1F1" ma:contentTypeVersion="18" ma:contentTypeDescription="Create a new document." ma:contentTypeScope="" ma:versionID="2b0728669773e8667927e56c57c26b0b">
  <xsd:schema xmlns:xsd="http://www.w3.org/2001/XMLSchema" xmlns:xs="http://www.w3.org/2001/XMLSchema" xmlns:p="http://schemas.microsoft.com/office/2006/metadata/properties" xmlns:ns3="2e8f5ba5-0919-4a18-9506-6ba1469d91ca" xmlns:ns4="9e962946-6961-4e21-9ebb-cad52190cc2b" targetNamespace="http://schemas.microsoft.com/office/2006/metadata/properties" ma:root="true" ma:fieldsID="c06223713c570b7501485e790df89867" ns3:_="" ns4:_="">
    <xsd:import namespace="2e8f5ba5-0919-4a18-9506-6ba1469d91ca"/>
    <xsd:import namespace="9e962946-6961-4e21-9ebb-cad52190cc2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f5ba5-0919-4a18-9506-6ba1469d91c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962946-6961-4e21-9ebb-cad52190c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D1400B-CEF8-4A01-9705-95C5DCB778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24AEFC-7EAE-438D-BC72-9BE44F7FE34E}">
  <ds:schemaRefs>
    <ds:schemaRef ds:uri="2e8f5ba5-0919-4a18-9506-6ba1469d91ca"/>
    <ds:schemaRef ds:uri="http://purl.org/dc/dcmitype/"/>
    <ds:schemaRef ds:uri="9e962946-6961-4e21-9ebb-cad52190cc2b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1EBAE3A-8CC5-4EFE-89E8-4B81F79B238D}">
  <ds:schemaRefs>
    <ds:schemaRef ds:uri="2e8f5ba5-0919-4a18-9506-6ba1469d91ca"/>
    <ds:schemaRef ds:uri="9e962946-6961-4e21-9ebb-cad52190c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4d60396-9352-4ae8-b84c-e69244584fa4}" enabled="0" method="" siteId="{e4d60396-9352-4ae8-b84c-e69244584fa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279</Words>
  <Application>Microsoft Office PowerPoint</Application>
  <PresentationFormat>Custom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Wingdings</vt:lpstr>
      <vt:lpstr>Aptos</vt:lpstr>
      <vt:lpstr>Canva Sans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Presentation</dc:title>
  <dc:creator>DevExpress</dc:creator>
  <cp:lastModifiedBy>DevExpress</cp:lastModifiedBy>
  <cp:revision>12</cp:revision>
  <dcterms:created xsi:type="dcterms:W3CDTF">2006-08-16T00:00:00Z</dcterms:created>
  <dcterms:modified xsi:type="dcterms:W3CDTF">2025-11-13T09:11:59Z</dcterms:modified>
  <dc:identifier>DAGsM9Q93GE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0x010100D7DBFD1EB3810349A9B4BCA85631D1F1</vt:lpwstr>
  </property>
</Properties>
</file>